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6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7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8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0f31b9fe05480b" /><Relationship Type="http://schemas.openxmlformats.org/officeDocument/2006/relationships/extended-properties" Target="/docProps/app.xml" Id="R6bbc7832362f4c4c" /><Relationship Type="http://schemas.openxmlformats.org/officeDocument/2006/relationships/officeDocument" Target="/ppt/presentation.xml" Id="R7c6a78d306a746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b6e398e8184948"/>
  </p:sldMasterIdLst>
  <p:notesMasterIdLst>
    <p:notesMasterId xmlns:r="http://schemas.openxmlformats.org/officeDocument/2006/relationships" r:id="Re44cb04d762249d4"/>
  </p:notesMasterIdLst>
  <p:sldIdLst>
    <p:sldId xmlns:r="http://schemas.openxmlformats.org/officeDocument/2006/relationships" id="256" r:id="R9e476687c2b5425e"/>
    <p:sldId xmlns:r="http://schemas.openxmlformats.org/officeDocument/2006/relationships" id="257" r:id="Rb371b56ca9b24ecc"/>
    <p:sldId xmlns:r="http://schemas.openxmlformats.org/officeDocument/2006/relationships" id="258" r:id="R9f892254337d4640"/>
    <p:sldId xmlns:r="http://schemas.openxmlformats.org/officeDocument/2006/relationships" id="259" r:id="R0187a57ba36b4769"/>
    <p:sldId xmlns:r="http://schemas.openxmlformats.org/officeDocument/2006/relationships" id="260" r:id="R9879b9972e6c4c3e"/>
    <p:sldId xmlns:r="http://schemas.openxmlformats.org/officeDocument/2006/relationships" id="261" r:id="R45f9504bccc445c1"/>
    <p:sldId xmlns:r="http://schemas.openxmlformats.org/officeDocument/2006/relationships" id="262" r:id="Rc185cee13ed24ab2"/>
    <p:sldId xmlns:r="http://schemas.openxmlformats.org/officeDocument/2006/relationships" id="263" r:id="R652c9325ae194dd5"/>
    <p:sldId xmlns:r="http://schemas.openxmlformats.org/officeDocument/2006/relationships" id="264" r:id="Re923fe928f884143"/>
    <p:sldId xmlns:r="http://schemas.openxmlformats.org/officeDocument/2006/relationships" id="265" r:id="R007b8bb6f035428f"/>
    <p:sldId xmlns:r="http://schemas.openxmlformats.org/officeDocument/2006/relationships" id="266" r:id="R7d7340a5e5314b29"/>
    <p:sldId xmlns:r="http://schemas.openxmlformats.org/officeDocument/2006/relationships" id="267" r:id="R163d2a82711f4d21"/>
    <p:sldId xmlns:r="http://schemas.openxmlformats.org/officeDocument/2006/relationships" id="268" r:id="R54d34204e73844ed"/>
    <p:sldId xmlns:r="http://schemas.openxmlformats.org/officeDocument/2006/relationships" id="269" r:id="R8a0d720587a84916"/>
    <p:sldId xmlns:r="http://schemas.openxmlformats.org/officeDocument/2006/relationships" id="270" r:id="R446fd02c964543e1"/>
    <p:sldId xmlns:r="http://schemas.openxmlformats.org/officeDocument/2006/relationships" id="271" r:id="Ra79eca3ec12d46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df0c9d12664046" /><Relationship Type="http://schemas.openxmlformats.org/officeDocument/2006/relationships/slideMaster" Target="/ppt/slideMasters/slideMaster1.xml" Id="R97b6e398e8184948" /><Relationship Type="http://schemas.openxmlformats.org/officeDocument/2006/relationships/notesMaster" Target="/ppt/notesMasters/notesMaster1.xml" Id="Re44cb04d762249d4" /><Relationship Type="http://schemas.openxmlformats.org/officeDocument/2006/relationships/presProps" Target="/ppt/presProps.xml" Id="R6f76c6ff72a443c6" /><Relationship Type="http://schemas.openxmlformats.org/officeDocument/2006/relationships/tableStyles" Target="/ppt/tableStyles.xml" Id="R05f3d6b743274fd4" /><Relationship Type="http://schemas.openxmlformats.org/officeDocument/2006/relationships/slide" Target="/ppt/slides/slide1.xml" Id="R9e476687c2b5425e" /><Relationship Type="http://schemas.openxmlformats.org/officeDocument/2006/relationships/slide" Target="/ppt/slides/slide2.xml" Id="Rb371b56ca9b24ecc" /><Relationship Type="http://schemas.openxmlformats.org/officeDocument/2006/relationships/slide" Target="/ppt/slides/slide3.xml" Id="R9f892254337d4640" /><Relationship Type="http://schemas.openxmlformats.org/officeDocument/2006/relationships/slide" Target="/ppt/slides/slide4.xml" Id="R0187a57ba36b4769" /><Relationship Type="http://schemas.openxmlformats.org/officeDocument/2006/relationships/slide" Target="/ppt/slides/slide5.xml" Id="R9879b9972e6c4c3e" /><Relationship Type="http://schemas.openxmlformats.org/officeDocument/2006/relationships/slide" Target="/ppt/slides/slide6.xml" Id="R45f9504bccc445c1" /><Relationship Type="http://schemas.openxmlformats.org/officeDocument/2006/relationships/slide" Target="/ppt/slides/slide7.xml" Id="Rc185cee13ed24ab2" /><Relationship Type="http://schemas.openxmlformats.org/officeDocument/2006/relationships/slide" Target="/ppt/slides/slide8.xml" Id="R652c9325ae194dd5" /><Relationship Type="http://schemas.openxmlformats.org/officeDocument/2006/relationships/slide" Target="/ppt/slides/slide9.xml" Id="Re923fe928f884143" /><Relationship Type="http://schemas.openxmlformats.org/officeDocument/2006/relationships/slide" Target="/ppt/slides/slide10.xml" Id="R007b8bb6f035428f" /><Relationship Type="http://schemas.openxmlformats.org/officeDocument/2006/relationships/slide" Target="/ppt/slides/slide11.xml" Id="R7d7340a5e5314b29" /><Relationship Type="http://schemas.openxmlformats.org/officeDocument/2006/relationships/slide" Target="/ppt/slides/slide12.xml" Id="R163d2a82711f4d21" /><Relationship Type="http://schemas.openxmlformats.org/officeDocument/2006/relationships/slide" Target="/ppt/slides/slide13.xml" Id="R54d34204e73844ed" /><Relationship Type="http://schemas.openxmlformats.org/officeDocument/2006/relationships/slide" Target="/ppt/slides/slide14.xml" Id="R8a0d720587a84916" /><Relationship Type="http://schemas.openxmlformats.org/officeDocument/2006/relationships/slide" Target="/ppt/slides/slide15.xml" Id="R446fd02c964543e1" /><Relationship Type="http://schemas.openxmlformats.org/officeDocument/2006/relationships/slide" Target="/ppt/slides/slide16.xml" Id="Ra79eca3ec12d46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b5b1e5cfff47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05ac92bc9b406b" /><Relationship Type="http://schemas.openxmlformats.org/officeDocument/2006/relationships/notesMaster" Target="/ppt/notesMasters/notesMaster1.xml" Id="R13138dd8711a49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a253def4ff4291" /><Relationship Type="http://schemas.openxmlformats.org/officeDocument/2006/relationships/notesMaster" Target="/ppt/notesMasters/notesMaster1.xml" Id="Raff1dbc893094d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103f256d264614" /><Relationship Type="http://schemas.openxmlformats.org/officeDocument/2006/relationships/notesMaster" Target="/ppt/notesMasters/notesMaster1.xml" Id="Rdb09e39e7e6343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b747e13d044ac8" /><Relationship Type="http://schemas.openxmlformats.org/officeDocument/2006/relationships/notesMaster" Target="/ppt/notesMasters/notesMaster1.xml" Id="R0a3c8aef5a344f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96ff4c1a9c4552" /><Relationship Type="http://schemas.openxmlformats.org/officeDocument/2006/relationships/notesMaster" Target="/ppt/notesMasters/notesMaster1.xml" Id="R0cfc7676680942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35ef08fc484c68" /><Relationship Type="http://schemas.openxmlformats.org/officeDocument/2006/relationships/notesMaster" Target="/ppt/notesMasters/notesMaster1.xml" Id="Rb7684cd4ae6a4d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5b57ad49374990" /><Relationship Type="http://schemas.openxmlformats.org/officeDocument/2006/relationships/notesMaster" Target="/ppt/notesMasters/notesMaster1.xml" Id="R887b4a13d78c4b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f1cd0f143b4ba4" /><Relationship Type="http://schemas.openxmlformats.org/officeDocument/2006/relationships/notesMaster" Target="/ppt/notesMasters/notesMaster1.xml" Id="R0b0068c39d6f45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2df25b7769460c" /><Relationship Type="http://schemas.openxmlformats.org/officeDocument/2006/relationships/notesMaster" Target="/ppt/notesMasters/notesMaster1.xml" Id="Rbeaf6d6054bc48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1db65fb3f84aa3" /><Relationship Type="http://schemas.openxmlformats.org/officeDocument/2006/relationships/notesMaster" Target="/ppt/notesMasters/notesMaster1.xml" Id="Re950ba17600046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0a6e3905174c0d" /><Relationship Type="http://schemas.openxmlformats.org/officeDocument/2006/relationships/notesMaster" Target="/ppt/notesMasters/notesMaster1.xml" Id="Rbe30bf131f214a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a8deda21e16460d" /><Relationship Type="http://schemas.openxmlformats.org/officeDocument/2006/relationships/notesMaster" Target="/ppt/notesMasters/notesMaster1.xml" Id="R0c420805c2c449f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b85c065efc44b4" /><Relationship Type="http://schemas.openxmlformats.org/officeDocument/2006/relationships/notesMaster" Target="/ppt/notesMasters/notesMaster1.xml" Id="Re78beab525ea4f3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d90db80aa8e45a7" /><Relationship Type="http://schemas.openxmlformats.org/officeDocument/2006/relationships/notesMaster" Target="/ppt/notesMasters/notesMaster1.xml" Id="R045c51fe50594b8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a72b94543954710" /><Relationship Type="http://schemas.openxmlformats.org/officeDocument/2006/relationships/notesMaster" Target="/ppt/notesMasters/notesMaster1.xml" Id="R4230aaf9c273429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cb4d2878d8a41ab" /><Relationship Type="http://schemas.openxmlformats.org/officeDocument/2006/relationships/notesMaster" Target="/ppt/notesMasters/notesMaster1.xml" Id="R75116291942a45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本答辩基于runs/m4_complete_20261014_v1的冻结结果。数据、方法和限制均与最终报告一致。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运行身份：runs/m4_complete_20261014_v1</a:t>
            </a:r>
          </a:p>
          <a:p xmlns:a="http://schemas.openxmlformats.org/drawingml/2006/main">
            <a:r>
              <a:t>源表：课程 project-pool(2).pdf 第45至47页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运行身份：runs/m4_complete_20261014_v1</a:t>
            </a:r>
          </a:p>
          <a:p xmlns:a="http://schemas.openxmlformats.org/drawingml/2006/main">
            <a:r>
              <a:t>源表：protocol/source_audit.json；CONTEXT87_V3.md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CNN误差条见报告，三种子R²样本标准差0.0071。所有模型同一1768条val，覆盖率100%。</a:t>
            </a:r>
          </a:p>
          <a:p xmlns:a="http://schemas.openxmlformats.org/drawingml/2006/main">
            <a:r>
              <a:t>运行身份：runs/m4_complete_20261014_v1</a:t>
            </a:r>
          </a:p>
          <a:p xmlns:a="http://schemas.openxmlformats.org/drawingml/2006/main">
            <a:r>
              <a:t>源表：evaluation/model_summary.csv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四配置各3个种子，按平均val MSE选C0。固定种子20260928用于归因和迁移。</a:t>
            </a:r>
          </a:p>
          <a:p xmlns:a="http://schemas.openxmlformats.org/drawingml/2006/main">
            <a:r>
              <a:t>运行身份：runs/m4_complete_20261014_v1</a:t>
            </a:r>
          </a:p>
          <a:p xmlns:a="http://schemas.openxmlformats.org/drawingml/2006/main">
            <a:r>
              <a:t>源表：cnn/search.csv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低/中/高组阈值来自train三分位。CNN为3个种子平均MAE。</a:t>
            </a:r>
          </a:p>
          <a:p xmlns:a="http://schemas.openxmlformats.org/drawingml/2006/main">
            <a:r>
              <a:t>运行身份：runs/m4_complete_20261014_v1</a:t>
            </a:r>
          </a:p>
          <a:p xmlns:a="http://schemas.openxmlformats.org/drawingml/2006/main">
            <a:r>
              <a:t>源表：evaluation/group_metrics.csv；M3 calibration.json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图为固定窗口Top-5。两种窗口政策与95%母序列bootstrap区间见报告。未做多重比较校正。</a:t>
            </a:r>
          </a:p>
          <a:p xmlns:a="http://schemas.openxmlformats.org/drawingml/2006/main">
            <a:r>
              <a:t>运行身份：runs/m4_complete_20261014_v1</a:t>
            </a:r>
          </a:p>
          <a:p xmlns:a="http://schemas.openxmlformats.org/drawingml/2006/main">
            <a:r>
              <a:t>源表：explanation_analysis/overlap_summary.csv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同一CNN、同一64条val；Spearman对87位点绝对重要性排名计算。区间按母序列bootstrap。</a:t>
            </a:r>
          </a:p>
          <a:p xmlns:a="http://schemas.openxmlformats.org/drawingml/2006/main">
            <a:r>
              <a:t>运行身份：runs/m4_complete_20261014_v1</a:t>
            </a:r>
          </a:p>
          <a:p xmlns:a="http://schemas.openxmlformats.org/drawingml/2006/main">
            <a:r>
              <a:t>源表：explanation_analysis/consistency_summary.csv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 kmer；A1 +CNN；A2 +DNA；A3 +训练IG选区。统一StandardScaler(train)+Ridge头，val选alpha。A1/A2/A3按3种子配对。</a:t>
            </a:r>
          </a:p>
          <a:p xmlns:a="http://schemas.openxmlformats.org/drawingml/2006/main">
            <a:r>
              <a:t>运行身份：runs/m4_complete_20261014_v1</a:t>
            </a:r>
          </a:p>
          <a:p xmlns:a="http://schemas.openxmlformats.org/drawingml/2006/main">
            <a:r>
              <a:t>源表：ablation/stage_summary.csv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High/Low/Random均为5位点、10次替换、64母序列，共1920变体。图为母序列汇总均值。High-Low与High-Random差的95%母序列bootstrap区间均为正。</a:t>
            </a:r>
          </a:p>
          <a:p xmlns:a="http://schemas.openxmlformats.org/drawingml/2006/main">
            <a:r>
              <a:t>运行身份：runs/m4_complete_20261014_v1</a:t>
            </a:r>
          </a:p>
          <a:p xmlns:a="http://schemas.openxmlformats.org/drawingml/2006/main">
            <a:r>
              <a:t>源表：mutation/mutation_summary.csv；paired_amplitude.csv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预期方向来自野生型梯度alt-channel minus ref-channel。High5 x 3替换 x 64=960单点变体。近零阈值1e-4 log10。</a:t>
            </a:r>
          </a:p>
          <a:p xmlns:a="http://schemas.openxmlformats.org/drawingml/2006/main">
            <a:r>
              <a:t>运行身份：runs/m4_complete_20261014_v1</a:t>
            </a:r>
          </a:p>
          <a:p xmlns:a="http://schemas.openxmlformats.org/drawingml/2006/main">
            <a:r>
              <a:t>源表：mutation/direction_summary.csv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目标test n=118行，置信区间按序列组bootstrap。目标test已有历史使用，本轮为同基准扩展。zero-shot绝对单位不可直接比较。</a:t>
            </a:r>
          </a:p>
          <a:p xmlns:a="http://schemas.openxmlformats.org/drawingml/2006/main">
            <a:r>
              <a:t>运行身份：runs/m4_complete_20261014_v1</a:t>
            </a:r>
          </a:p>
          <a:p xmlns:a="http://schemas.openxmlformats.org/drawingml/2006/main">
            <a:r>
              <a:t>源表：transfer/transfer_metrics.csv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运行身份：runs/m4_complete_20261014_v1</a:t>
            </a:r>
          </a:p>
          <a:p xmlns:a="http://schemas.openxmlformats.org/drawingml/2006/main">
            <a:r>
              <a:t>源表：M5_FINAL_REPORT.md 研究问题与限制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运行身份：runs/m4_complete_20261014_v1</a:t>
            </a:r>
          </a:p>
          <a:p xmlns:a="http://schemas.openxmlformats.org/drawingml/2006/main">
            <a:r>
              <a:t>源表：evaluation/；explanation_analysis/；mutation/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运行身份：runs/m4_complete_20261014_v1</a:t>
            </a:r>
          </a:p>
          <a:p xmlns:a="http://schemas.openxmlformats.org/drawingml/2006/main">
            <a:r>
              <a:t>源表：configs/m4_protocol_v1.json；verification.json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课程要求: project-pool(2).pdf，PR02-01第45至47页，代码要求参照第9页</a:t>
            </a:r>
          </a:p>
          <a:p xmlns:a="http://schemas.openxmlformats.org/drawingml/2006/main">
            <a:r>
              <a:t>当前数据与代码: https://github.com/Azusakada/PR02-01-promoter--insight</a:t>
            </a:r>
          </a:p>
          <a:p xmlns:a="http://schemas.openxmlformats.org/drawingml/2006/main">
            <a:r>
              <a:t>原始50bp数据与模型: https://github.com/HaochenW/Deep_promoter</a:t>
            </a:r>
          </a:p>
          <a:p xmlns:a="http://schemas.openxmlformats.org/drawingml/2006/main">
            <a:r>
              <a:t>Deep_promoter原论文: https://pmc.ncbi.nlm.nih.gov/articles/PMC7337522/</a:t>
            </a:r>
          </a:p>
          <a:p xmlns:a="http://schemas.openxmlformats.org/drawingml/2006/main">
            <a:r>
              <a:t>原TSS图谱论文: https://pmc.ncbi.nlm.nih.gov/articles/PMC4288677/</a:t>
            </a:r>
          </a:p>
          <a:p xmlns:a="http://schemas.openxmlformats.org/drawingml/2006/main">
            <a:r>
              <a:t>Promoter Calculator: https://www.nature.com/articles/s41467-022-32829-5</a:t>
            </a:r>
          </a:p>
          <a:p xmlns:a="http://schemas.openxmlformats.org/drawingml/2006/main">
            <a:r>
              <a:t>DNABERT-2官方实现: https://github.com/MAGICS-LAB/DNABERT_2</a:t>
            </a:r>
          </a:p>
          <a:p xmlns:a="http://schemas.openxmlformats.org/drawingml/2006/main">
            <a:r>
              <a:t>本轮DNA权重版本: https://huggingface.co/zhihan1996/DNABERT-2-117M/tree/7bce263b15377fc15361f52cfab88f8b586abda0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a0460b134b4a3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dce9d496f244e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a8a836c24d482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7b28a351ac46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1c66065adf41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d43c0a6d194f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D21523-D49A-4791-8E96-5CF45FBE28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70D6149-E608-42B6-9F03-8BC2827D5D9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DC785B7-77CC-4E78-B197-2211C0E922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A1D11B-683A-4E99-87F6-99DA452886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2553AE2-3D17-4CD7-87F6-FE0C7CE8FC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52A1398-4DB4-46B6-ADA1-E0BA1B3FF1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45DD93-32D5-4EA6-BE26-E3DF3F2E98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507E15C-D62A-4BC6-BEEB-C250769E25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B07AC8-41A3-4093-BB99-5E8481CF8B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85C892-68A9-4A81-B2F6-65E0E49944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50352990cb4225" /><Relationship Type="http://schemas.openxmlformats.org/officeDocument/2006/relationships/slideLayout" Target="/ppt/slideLayouts/slideLayout1.xml" Id="R0e091eaa9eab484f" /><Relationship Type="http://schemas.openxmlformats.org/officeDocument/2006/relationships/slideLayout" Target="/ppt/slideLayouts/slideLayout2.xml" Id="R66c1c7a924df47f7" /><Relationship Type="http://schemas.openxmlformats.org/officeDocument/2006/relationships/slideLayout" Target="/ppt/slideLayouts/slideLayout3.xml" Id="R34dcff5c73924074" /><Relationship Type="http://schemas.openxmlformats.org/officeDocument/2006/relationships/slideLayout" Target="/ppt/slideLayouts/slideLayout4.xml" Id="Rf3bff313bb41420d" /><Relationship Type="http://schemas.openxmlformats.org/officeDocument/2006/relationships/slideLayout" Target="/ppt/slideLayouts/slideLayout5.xml" Id="R2642815991804dc5" /><Relationship Type="http://schemas.openxmlformats.org/officeDocument/2006/relationships/slideLayout" Target="/ppt/slideLayouts/slideLayout6.xml" Id="Rdf96c9ffc4c640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091eaa9eab484f"/>
    <p:sldLayoutId xmlns:r="http://schemas.openxmlformats.org/officeDocument/2006/relationships" id="2147483650" r:id="R66c1c7a924df47f7"/>
    <p:sldLayoutId xmlns:r="http://schemas.openxmlformats.org/officeDocument/2006/relationships" id="2147483651" r:id="R34dcff5c73924074"/>
    <p:sldLayoutId xmlns:r="http://schemas.openxmlformats.org/officeDocument/2006/relationships" id="2147483652" r:id="Rf3bff313bb41420d"/>
    <p:sldLayoutId xmlns:r="http://schemas.openxmlformats.org/officeDocument/2006/relationships" id="2147483653" r:id="R2642815991804dc5"/>
    <p:sldLayoutId xmlns:r="http://schemas.openxmlformats.org/officeDocument/2006/relationships" id="2147483654" r:id="Rdf96c9ffc4c640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ed18a8e6234d4e" /><Relationship Type="http://schemas.openxmlformats.org/officeDocument/2006/relationships/notesSlide" Target="/ppt/notesSlides/notesSlide1.xml" Id="R16aee09368eb4b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0b7a6430314b07" /><Relationship Type="http://schemas.openxmlformats.org/officeDocument/2006/relationships/notesSlide" Target="/ppt/notesSlides/notesSlide2.xml" Id="R4151103fd14345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bd4ad27d2d46c3" /><Relationship Type="http://schemas.openxmlformats.org/officeDocument/2006/relationships/notesSlide" Target="/ppt/notesSlides/notesSlide3.xml" Id="R9174fac898e74e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bd6ac6d6cf4748" /><Relationship Type="http://schemas.openxmlformats.org/officeDocument/2006/relationships/chart" Target="/ppt/slides/charts/chart1.xml" Id="Rc587ce1c84314cdb" /><Relationship Type="http://schemas.openxmlformats.org/officeDocument/2006/relationships/notesSlide" Target="/ppt/notesSlides/notesSlide4.xml" Id="Rfc5606921b304f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8fe76d92ea4cb3" /><Relationship Type="http://schemas.openxmlformats.org/officeDocument/2006/relationships/chart" Target="/ppt/slides/charts/chart2.xml" Id="R4174a0e6054546fd" /><Relationship Type="http://schemas.openxmlformats.org/officeDocument/2006/relationships/notesSlide" Target="/ppt/notesSlides/notesSlide5.xml" Id="R2e16b32598de4f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06dfe1ad024a45" /><Relationship Type="http://schemas.openxmlformats.org/officeDocument/2006/relationships/chart" Target="/ppt/slides/charts/chart3.xml" Id="Rdcd50a07f5e64747" /><Relationship Type="http://schemas.openxmlformats.org/officeDocument/2006/relationships/notesSlide" Target="/ppt/notesSlides/notesSlide6.xml" Id="R69c9fe4f301042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1f9bbeb5b047b7" /><Relationship Type="http://schemas.openxmlformats.org/officeDocument/2006/relationships/chart" Target="/ppt/slides/charts/chart4.xml" Id="R0783215d50be4d56" /><Relationship Type="http://schemas.openxmlformats.org/officeDocument/2006/relationships/notesSlide" Target="/ppt/notesSlides/notesSlide7.xml" Id="R59c38ca8620645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c0a9d548b64f72" /><Relationship Type="http://schemas.openxmlformats.org/officeDocument/2006/relationships/notesSlide" Target="/ppt/notesSlides/notesSlide8.xml" Id="R891297b1983c48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52a274b915427a" /><Relationship Type="http://schemas.openxmlformats.org/officeDocument/2006/relationships/chart" Target="/ppt/slides/charts/chart5.xml" Id="Rb10566897d9543e0" /><Relationship Type="http://schemas.openxmlformats.org/officeDocument/2006/relationships/notesSlide" Target="/ppt/notesSlides/notesSlide9.xml" Id="R73579f4b8df54f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eb8967692946ec" /><Relationship Type="http://schemas.openxmlformats.org/officeDocument/2006/relationships/chart" Target="/ppt/slides/charts/chart6.xml" Id="R84d251335bfb4cce" /><Relationship Type="http://schemas.openxmlformats.org/officeDocument/2006/relationships/notesSlide" Target="/ppt/notesSlides/notesSlide10.xml" Id="R783803fd388743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ccddf15c5845fa" /><Relationship Type="http://schemas.openxmlformats.org/officeDocument/2006/relationships/chart" Target="/ppt/slides/charts/chart7.xml" Id="R93214a3e74634e61" /><Relationship Type="http://schemas.openxmlformats.org/officeDocument/2006/relationships/notesSlide" Target="/ppt/notesSlides/notesSlide11.xml" Id="R327777112b0a4b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e9c77d73a94507" /><Relationship Type="http://schemas.openxmlformats.org/officeDocument/2006/relationships/chart" Target="/ppt/slides/charts/chart8.xml" Id="R71ab02ea7e874ca8" /><Relationship Type="http://schemas.openxmlformats.org/officeDocument/2006/relationships/notesSlide" Target="/ppt/notesSlides/notesSlide12.xml" Id="R51da309a6af7431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2ad15098a54e74" /><Relationship Type="http://schemas.openxmlformats.org/officeDocument/2006/relationships/notesSlide" Target="/ppt/notesSlides/notesSlide13.xml" Id="R4376cb4a2f63426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d0dbb1eaa34098" /><Relationship Type="http://schemas.openxmlformats.org/officeDocument/2006/relationships/notesSlide" Target="/ppt/notesSlides/notesSlide14.xml" Id="Rea6a43bd5e29428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dd3512d38d4588" /><Relationship Type="http://schemas.openxmlformats.org/officeDocument/2006/relationships/notesSlide" Target="/ppt/notesSlides/notesSlide15.xml" Id="Rb704970b1b3c4d4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13fac7dc0f437f" /><Relationship Type="http://schemas.openxmlformats.org/officeDocument/2006/relationships/notesSlide" Target="/ppt/notesSlides/notesSlide16.xml" Id="Rd87b192085424a8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R²</c:v>
          </c:tx>
          <c:spPr>
            <a:solidFill xmlns:a="http://schemas.openxmlformats.org/drawingml/2006/main">
              <a:srgbClr val="386A91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KNN</c:v>
                </c:pt>
                <c:pt idx="1">
                  <c:v>Ridge</c:v>
                </c:pt>
                <c:pt idx="2">
                  <c:v>LinSVR</c:v>
                </c:pt>
                <c:pt idx="3">
                  <c:v>DNA</c:v>
                </c:pt>
                <c:pt idx="4">
                  <c:v>PC</c:v>
                </c:pt>
                <c:pt idx="5">
                  <c:v>CNN</c:v>
                </c:pt>
              </c:strCache>
            </c:strRef>
          </c:cat>
          <c:val>
            <c:numRef>
              <c:f>'Chart Data'!$B$2:$B$7</c:f>
              <c:numCache>
                <c:formatCode>0.000</c:formatCode>
                <c:ptCount val="6"/>
                <c:pt idx="0">
                  <c:v>0.05190814</c:v>
                </c:pt>
                <c:pt idx="1">
                  <c:v>0.07271156</c:v>
                </c:pt>
                <c:pt idx="2">
                  <c:v>0.07049257</c:v>
                </c:pt>
                <c:pt idx="3">
                  <c:v>0.01018302</c:v>
                </c:pt>
                <c:pt idx="4">
                  <c:v>0.01364903</c:v>
                </c:pt>
                <c:pt idx="5">
                  <c:v>0.11596701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ource Han Sans CN"/>
                  <a:ea typeface="Source Han Sans CN"/>
                  <a:cs typeface="Source Han Sans C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6AFB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72768"/>
      </c:catAx>
      <c:valAx>
        <c:axId val="48672768"/>
        <c:scaling>
          <c:orientation val="minMax"/>
          <c:max val="0.1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Source Han Sans CN"/>
                    <a:ea typeface="Source Han Sans CN"/>
                    <a:cs typeface="Source Han Sans CN"/>
                  </a:rPr>
                  <a:t>R²（log10）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Source Han Sans CN"/>
                  <a:ea typeface="Source Han Sans CN"/>
                  <a:cs typeface="Source Han Sans CN"/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三种子平均MSE的平方根</c:v>
          </c:tx>
          <c:spPr>
            <a:solidFill xmlns:a="http://schemas.openxmlformats.org/drawingml/2006/main">
              <a:srgbClr val="386A91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C0</c:v>
                </c:pt>
                <c:pt idx="1">
                  <c:v>C1</c:v>
                </c:pt>
                <c:pt idx="2">
                  <c:v>C2</c:v>
                </c:pt>
                <c:pt idx="3">
                  <c:v>C3</c:v>
                </c:pt>
              </c:strCache>
            </c:strRef>
          </c:cat>
          <c:val>
            <c:numRef>
              <c:f>'Chart Data'!$B$2:$B$5</c:f>
              <c:numCache>
                <c:formatCode>0.000</c:formatCode>
                <c:ptCount val="4"/>
                <c:pt idx="0">
                  <c:v>0.58124273</c:v>
                </c:pt>
                <c:pt idx="1">
                  <c:v>0.58493973</c:v>
                </c:pt>
                <c:pt idx="2">
                  <c:v>0.58473179</c:v>
                </c:pt>
                <c:pt idx="3">
                  <c:v>0.58538031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ource Han Sans CN"/>
                  <a:ea typeface="Source Han Sans CN"/>
                  <a:cs typeface="Source Han Sans C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6AFB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72768"/>
      </c:catAx>
      <c:valAx>
        <c:axId val="48672768"/>
        <c:scaling>
          <c:orientation val="minMax"/>
          <c:max val="0.59"/>
          <c:min val="0.578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Source Han Sans CN"/>
                    <a:ea typeface="Source Han Sans CN"/>
                    <a:cs typeface="Source Han Sans CN"/>
                  </a:rPr>
                  <a:t>验证RMSE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Source Han Sans CN"/>
                  <a:ea typeface="Source Han Sans CN"/>
                  <a:cs typeface="Source Han Sans CN"/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CNN</c:v>
          </c:tx>
          <c:spPr>
            <a:solidFill xmlns:a="http://schemas.openxmlformats.org/drawingml/2006/main">
              <a:srgbClr val="386A91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低强度</c:v>
                </c:pt>
                <c:pt idx="1">
                  <c:v>中强度</c:v>
                </c:pt>
                <c:pt idx="2">
                  <c:v>高强度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0.51835775</c:v>
                </c:pt>
                <c:pt idx="1">
                  <c:v>0.20029915</c:v>
                </c:pt>
                <c:pt idx="2">
                  <c:v>0.59601675</c:v>
                </c:pt>
              </c:numCache>
            </c:numRef>
          </c:val>
        </c:ser>
        <c:ser>
          <c:idx val="1"/>
          <c:order val="1"/>
          <c:tx>
            <c:v>热力学</c:v>
          </c:tx>
          <c:spPr>
            <a:solidFill xmlns:a="http://schemas.openxmlformats.org/drawingml/2006/main">
              <a:srgbClr val="D88B2E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低强度</c:v>
                </c:pt>
                <c:pt idx="1">
                  <c:v>中强度</c:v>
                </c:pt>
                <c:pt idx="2">
                  <c:v>高强度</c:v>
                </c:pt>
              </c:strCache>
            </c:strRef>
          </c:cat>
          <c:val>
            <c:numRef>
              <c:f>'Chart Data'!$D$2:$D$4</c:f>
              <c:numCache>
                <c:formatCode>0.000</c:formatCode>
                <c:ptCount val="3"/>
                <c:pt idx="0">
                  <c:v>0.5496538</c:v>
                </c:pt>
                <c:pt idx="1">
                  <c:v>0.17232685</c:v>
                </c:pt>
                <c:pt idx="2">
                  <c:v>0.6646347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ource Han Sans CN"/>
                  <a:ea typeface="Source Han Sans CN"/>
                  <a:cs typeface="Source Han Sans C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6AFB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72768"/>
      </c:catAx>
      <c:valAx>
        <c:axId val="48672768"/>
        <c:scaling>
          <c:orientation val="minMax"/>
          <c:max val="0.7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Source Han Sans CN"/>
                    <a:ea typeface="Source Han Sans CN"/>
                    <a:cs typeface="Source Han Sans CN"/>
                  </a:rPr>
                  <a:t>组内MAE（log10）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Source Han Sans CN"/>
                  <a:ea typeface="Source Han Sans CN"/>
                  <a:cs typeface="Source Han Sans CN"/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Source Han Sans CN"/>
              <a:ea typeface="Source Han Sans CN"/>
              <a:cs typeface="Source Han Sans C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IG</c:v>
          </c:tx>
          <c:spPr>
            <a:solidFill xmlns:a="http://schemas.openxmlformats.org/drawingml/2006/main">
              <a:srgbClr val="386A91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UP</c:v>
                </c:pt>
                <c:pt idx="1">
                  <c:v>-35</c:v>
                </c:pt>
                <c:pt idx="2">
                  <c:v>spacer</c:v>
                </c:pt>
                <c:pt idx="3">
                  <c:v>-10</c:v>
                </c:pt>
              </c:strCache>
            </c:strRef>
          </c:cat>
          <c:val>
            <c:numRef>
              <c:f>'Chart Data'!$B$2:$B$5</c:f>
              <c:numCache>
                <c:formatCode>0.000</c:formatCode>
                <c:ptCount val="4"/>
                <c:pt idx="0">
                  <c:v>-0.12273707</c:v>
                </c:pt>
                <c:pt idx="1">
                  <c:v>-0.01271552</c:v>
                </c:pt>
                <c:pt idx="2">
                  <c:v>-0.1079023</c:v>
                </c:pt>
                <c:pt idx="3">
                  <c:v>0.06228448</c:v>
                </c:pt>
              </c:numCache>
            </c:numRef>
          </c:val>
        </c:ser>
        <c:ser>
          <c:idx val="1"/>
          <c:order val="1"/>
          <c:tx>
            <c:v>ISM</c:v>
          </c:tx>
          <c:spPr>
            <a:solidFill xmlns:a="http://schemas.openxmlformats.org/drawingml/2006/main">
              <a:srgbClr val="D88B2E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UP</c:v>
                </c:pt>
                <c:pt idx="1">
                  <c:v>-35</c:v>
                </c:pt>
                <c:pt idx="2">
                  <c:v>spacer</c:v>
                </c:pt>
                <c:pt idx="3">
                  <c:v>-10</c:v>
                </c:pt>
              </c:strCache>
            </c:strRef>
          </c:cat>
          <c:val>
            <c:numRef>
              <c:f>'Chart Data'!$D$2:$D$5</c:f>
              <c:numCache>
                <c:formatCode>0.000</c:formatCode>
                <c:ptCount val="4"/>
                <c:pt idx="0">
                  <c:v>-0.08211207</c:v>
                </c:pt>
                <c:pt idx="1">
                  <c:v>-0.04084052</c:v>
                </c:pt>
                <c:pt idx="2">
                  <c:v>-0.0891523</c:v>
                </c:pt>
                <c:pt idx="3">
                  <c:v>0.11853448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ource Han Sans CN"/>
                  <a:ea typeface="Source Han Sans CN"/>
                  <a:cs typeface="Source Han Sans C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6AFB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72768"/>
      </c:catAx>
      <c:valAx>
        <c:axId val="48672768"/>
        <c:scaling>
          <c:orientation val="minMax"/>
          <c:max val="0.18"/>
          <c:min val="-0.18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Source Han Sans CN"/>
                    <a:ea typeface="Source Han Sans CN"/>
                    <a:cs typeface="Source Han Sans CN"/>
                  </a:rPr>
                  <a:t>命中比例减区域长度/87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Source Han Sans CN"/>
                  <a:ea typeface="Source Han Sans CN"/>
                  <a:cs typeface="Source Han Sans CN"/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Source Han Sans CN"/>
              <a:ea typeface="Source Han Sans CN"/>
              <a:cs typeface="Source Han Sans C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验证R²</c:v>
          </c:tx>
          <c:spPr>
            <a:solidFill xmlns:a="http://schemas.openxmlformats.org/drawingml/2006/main">
              <a:srgbClr val="386A91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A0</c:v>
                </c:pt>
                <c:pt idx="1">
                  <c:v>A1</c:v>
                </c:pt>
                <c:pt idx="2">
                  <c:v>A2</c:v>
                </c:pt>
                <c:pt idx="3">
                  <c:v>A3</c:v>
                </c:pt>
              </c:strCache>
            </c:strRef>
          </c:cat>
          <c:val>
            <c:numRef>
              <c:f>'Chart Data'!$B$2:$B$5</c:f>
              <c:numCache>
                <c:formatCode>0.000</c:formatCode>
                <c:ptCount val="4"/>
                <c:pt idx="0">
                  <c:v>0.07271156</c:v>
                </c:pt>
                <c:pt idx="1">
                  <c:v>0.04179388</c:v>
                </c:pt>
                <c:pt idx="2">
                  <c:v>-0.02147021</c:v>
                </c:pt>
                <c:pt idx="3">
                  <c:v>-0.02725899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ource Han Sans CN"/>
                  <a:ea typeface="Source Han Sans CN"/>
                  <a:cs typeface="Source Han Sans C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6AFB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72768"/>
      </c:catAx>
      <c:valAx>
        <c:axId val="48672768"/>
        <c:scaling>
          <c:orientation val="minMax"/>
          <c:max val="0.1"/>
          <c:min val="-0.0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Source Han Sans CN"/>
                    <a:ea typeface="Source Han Sans CN"/>
                    <a:cs typeface="Source Han Sans CN"/>
                  </a:rPr>
                  <a:t>R²（log10）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Source Han Sans CN"/>
                  <a:ea typeface="Source Han Sans CN"/>
                  <a:cs typeface="Source Han Sans CN"/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平均绝对变化</c:v>
          </c:tx>
          <c:spPr>
            <a:solidFill xmlns:a="http://schemas.openxmlformats.org/drawingml/2006/main">
              <a:srgbClr val="386A91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High</c:v>
                </c:pt>
                <c:pt idx="1">
                  <c:v>Low</c:v>
                </c:pt>
                <c:pt idx="2">
                  <c:v>Random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0.12701882</c:v>
                </c:pt>
                <c:pt idx="1">
                  <c:v>0.04755709</c:v>
                </c:pt>
                <c:pt idx="2">
                  <c:v>0.06706705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ource Han Sans CN"/>
                  <a:ea typeface="Source Han Sans CN"/>
                  <a:cs typeface="Source Han Sans C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6AFB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72768"/>
      </c:catAx>
      <c:valAx>
        <c:axId val="48672768"/>
        <c:scaling>
          <c:orientation val="minMax"/>
          <c:max val="0.1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Source Han Sans CN"/>
                    <a:ea typeface="Source Han Sans CN"/>
                    <a:cs typeface="Source Han Sans CN"/>
                  </a:rPr>
                  <a:t>平均 |delta|（log10）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Source Han Sans CN"/>
                  <a:ea typeface="Source Han Sans CN"/>
                  <a:cs typeface="Source Han Sans CN"/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方向一致率</c:v>
          </c:tx>
          <c:spPr>
            <a:solidFill xmlns:a="http://schemas.openxmlformats.org/drawingml/2006/main">
              <a:srgbClr val="386A91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梯度与CNN</c:v>
                </c:pt>
                <c:pt idx="1">
                  <c:v>梯度与热力学</c:v>
                </c:pt>
                <c:pt idx="2">
                  <c:v>CNN与热力学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0.98229167</c:v>
                </c:pt>
                <c:pt idx="1">
                  <c:v>0.44479167</c:v>
                </c:pt>
                <c:pt idx="2">
                  <c:v>0.44270833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ource Han Sans CN"/>
                  <a:ea typeface="Source Han Sans CN"/>
                  <a:cs typeface="Source Han Sans C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6AFB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Source Han Sans CN"/>
                    <a:ea typeface="Source Han Sans CN"/>
                    <a:cs typeface="Source Han Sans CN"/>
                  </a:rPr>
                  <a:t>一致比例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Source Han Sans CN"/>
                  <a:ea typeface="Source Han Sans CN"/>
                  <a:cs typeface="Source Han Sans CN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目标Spearman</c:v>
          </c:tx>
          <c:spPr>
            <a:solidFill xmlns:a="http://schemas.openxmlformats.org/drawingml/2006/main">
              <a:srgbClr val="386A91"/>
            </a:solidFill>
          </c:spPr>
          <c:invertIfNegative val="0"/>
          <c:cat>
            <c:strRef>
              <c:f>'Chart Data'!$A$2:$A$9</c:f>
              <c:strCache>
                <c:ptCount val="8"/>
                <c:pt idx="0">
                  <c:v>Zero-R</c:v>
                </c:pt>
                <c:pt idx="1">
                  <c:v>Zero-C</c:v>
                </c:pt>
                <c:pt idx="2">
                  <c:v>K20</c:v>
                </c:pt>
                <c:pt idx="3">
                  <c:v>C20</c:v>
                </c:pt>
                <c:pt idx="4">
                  <c:v>K50</c:v>
                </c:pt>
                <c:pt idx="5">
                  <c:v>C50</c:v>
                </c:pt>
                <c:pt idx="6">
                  <c:v>K100</c:v>
                </c:pt>
                <c:pt idx="7">
                  <c:v>C100</c:v>
                </c:pt>
              </c:strCache>
            </c:strRef>
          </c:cat>
          <c:val>
            <c:numRef>
              <c:f>'Chart Data'!$B$2:$B$9</c:f>
              <c:numCache>
                <c:formatCode>0.000</c:formatCode>
                <c:ptCount val="8"/>
                <c:pt idx="0">
                  <c:v>0.17727103</c:v>
                </c:pt>
                <c:pt idx="1">
                  <c:v>0.21609244</c:v>
                </c:pt>
                <c:pt idx="2">
                  <c:v>0.13571058</c:v>
                </c:pt>
                <c:pt idx="3">
                  <c:v>0.08539249</c:v>
                </c:pt>
                <c:pt idx="4">
                  <c:v>0.05673111</c:v>
                </c:pt>
                <c:pt idx="5">
                  <c:v>-0.03841238</c:v>
                </c:pt>
                <c:pt idx="6">
                  <c:v>0.17651141</c:v>
                </c:pt>
                <c:pt idx="7">
                  <c:v>0.26264891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ource Han Sans CN"/>
                  <a:ea typeface="Source Han Sans CN"/>
                  <a:cs typeface="Source Han Sans C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6AFB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72768"/>
      </c:catAx>
      <c:valAx>
        <c:axId val="48672768"/>
        <c:scaling>
          <c:orientation val="minMax"/>
          <c:max val="0.4"/>
          <c:min val="-0.1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Source Han Sans CN"/>
                    <a:ea typeface="Source Han Sans CN"/>
                    <a:cs typeface="Source Han Sans CN"/>
                  </a:rPr>
                  <a:t>目标test Spearman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Source Han Sans CN"/>
                  <a:ea typeface="Source Han Sans CN"/>
                  <a:cs typeface="Source Han Sans CN"/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B9787-31BA-4C5B-A754-312B81A9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495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495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启动子强度预测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495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495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与位点解释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2889E-0EC8-4E0B-8928-AC7B8626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386A91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475" b="0">
                <a:solidFill>
                  <a:srgbClr val="386A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75" b="0">
                <a:solidFill>
                  <a:srgbClr val="386A91"/>
                </a:solidFill>
                <a:latin typeface="Source Han Sans CN"/>
                <a:ea typeface="Source Han Sans CN"/>
                <a:cs typeface="Source Han Sans CN"/>
              </a:rPr>
              <a:t>PR02-01 项目最终答辩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9703F-7DFB-4430-8C8A-0D59E863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87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胡昊铭  李宇飞  李玘航  田惠今  陈思远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B4F39-C22B-4B08-BA8E-C9FD21B9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3877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8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2026年10月14日</a:t>
            </a:r>
          </a:p>
        </p:txBody>
      </p:sp>
    </p:spTree>
    <p:extLst>
      <p:ext uri="{BB962C8B-B14F-4D97-AF65-F5344CB8AC3E}">
        <p14:creationId xmlns:p14="http://schemas.microsoft.com/office/powerpoint/2010/main" val="17228351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700197-2726-4700-B541-1B178062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研究问题与证据范围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366B1-F5AA-45EA-954E-21FC95A6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来源：课程 project-pool(2).pdf 第45至47页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7B725-E0A6-4E8C-AE73-DDB7D042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E18AC-ED6F-4A6B-B9CF-FF4E3EF2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47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7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RQ1  哪类模型更适合当前表达标签？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65BD4-A64F-48B5-8D1E-868974EF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669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统一87bp输入与验证ID，对照数据驱动模型和热力学模型。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4B62F-7C0E-466B-982E-7E92B9CD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47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7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RQ2  重要位点是否对应启动子区域？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A1C02-D7B0-42D7-80BF-F6228F92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909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比较IG、ISM的Top-k与固定及推定区域，校正区域长度。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01B47-61F4-4560-9B54-EB9A1BD4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47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7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RQ3  归因能否预测突变影响？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AB5CD-2DEC-4DC0-B98F-2CCD8DFC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149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检验计算敏感性与变化方向，区分模型自洽和生物因果。</a:t>
            </a:r>
          </a:p>
        </p:txBody>
      </p:sp>
    </p:spTree>
    <p:extLst>
      <p:ext uri="{BB962C8B-B14F-4D97-AF65-F5344CB8AC3E}">
        <p14:creationId xmlns:p14="http://schemas.microsoft.com/office/powerpoint/2010/main" val="3037012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3424D6-54FD-4A62-977C-7150B745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数据与统一评价协议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5EAC7-0DAE-4509-BF2A-447F594B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来源：protocol/source_audit.json；CONTEXT87_V3.md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51DFC-B62A-4280-97F3-3A4CCA41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45ACE-3E03-4917-92CB-D8C7A620783C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2047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3905250"/>
                <a:gridCol w="5010150"/>
              </a:tblGrid>
              <a:tr h="682625">
                <a:tc>
                  <a:txBody>
                    <a:bodyPr lIns="114300" tIns="76200" rIns="114300" bIns="76200"/>
                    <a:lstStyle/>
                    <a:p>
                      <a:pPr algn="l"/>
                      <a:r>
                        <a:rPr sz="1725" b="1">
                          <a:solidFill>
                            <a:srgbClr val="183047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数据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DDE7F0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pPr algn="ctr"/>
                      <a:r>
                        <a:rPr sz="1725" b="1">
                          <a:solidFill>
                            <a:srgbClr val="183047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记录与长度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DDE7F0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pPr algn="ctr"/>
                      <a:r>
                        <a:rPr sz="1725" b="1">
                          <a:solidFill>
                            <a:srgbClr val="183047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训练 / 验证 / 测试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DDE7F0"/>
                    </a:solidFill>
                  </a:tcPr>
                </a:tc>
              </a:tr>
              <a:tr h="682625">
                <a:tc>
                  <a:txBody>
                    <a:bodyPr lIns="114300" tIns="76200" rIns="114300" bIns="76200"/>
                    <a:lstStyle/>
                    <a:p>
                      <a:pPr algn="l"/>
                      <a:r>
                        <a:rPr sz="1725" b="0">
                          <a:solidFill>
                            <a:srgbClr val="183047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E. coli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pPr algn="ctr"/>
                      <a:r>
                        <a:rPr sz="1725" b="0">
                          <a:solidFill>
                            <a:srgbClr val="183047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11809条，87bp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pPr algn="ctr"/>
                      <a:r>
                        <a:rPr sz="1725" b="0">
                          <a:solidFill>
                            <a:srgbClr val="183047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8267 / 1768 / 1774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lIns="114300" tIns="76200" rIns="114300" bIns="76200"/>
                    <a:lstStyle/>
                    <a:p>
                      <a:pPr algn="l"/>
                      <a:r>
                        <a:rPr sz="1725" b="0">
                          <a:solidFill>
                            <a:srgbClr val="183047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B. subtilis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pPr algn="ctr"/>
                      <a:r>
                        <a:rPr sz="1725" b="0">
                          <a:solidFill>
                            <a:srgbClr val="183047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591行，61bp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pPr algn="ctr"/>
                      <a:r>
                        <a:rPr sz="1725" b="0">
                          <a:solidFill>
                            <a:srgbClr val="183047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354 / 119 / 118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D870C-C950-4F7F-AAE5-DFAB3B0A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719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100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源域TSS索引67，原50bp位于[17,67)。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6B600-3E34-464E-B98F-40F17E0E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96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监督拟合只用train，val按预定规则选参。源域test本轮不评价。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EBA1E4-8214-4DFA-90D8-7AE06896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625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0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目标域重复序列按组划分。单位、TSS和方向仍未知。</a:t>
            </a:r>
          </a:p>
        </p:txBody>
      </p:sp>
    </p:spTree>
    <p:extLst>
      <p:ext uri="{BB962C8B-B14F-4D97-AF65-F5344CB8AC3E}">
        <p14:creationId xmlns:p14="http://schemas.microsoft.com/office/powerpoint/2010/main" val="20931123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7E82A-90D8-44A2-BD8E-59949553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六类模型的验证表现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92E06-EA69-4827-A0DC-9A362834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来源：evaluation/model_summary.csv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CDAE3-FDB5-4832-A385-40E54BEC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04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D10DA366-5BA2-4F27-B169-D2CD5DDA084C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723900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87ce1c84314cd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42AE2-06AD-4413-9580-BC3C945F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335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62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62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CNN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59D4D-CB4D-40D6-AAC9-F19D53A0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81250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386A91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3000" b="1">
                <a:solidFill>
                  <a:srgbClr val="386A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386A91"/>
                </a:solidFill>
                <a:latin typeface="Source Han Sans CN"/>
                <a:ea typeface="Source Han Sans CN"/>
                <a:cs typeface="Source Han Sans CN"/>
              </a:rPr>
              <a:t>0.116 ± 0.007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3819A-78D7-4728-A163-150C4FF4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33725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7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三个种子的R²均值 ± SD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DF146-61EE-42A2-A727-7C809EC0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48125"/>
            <a:ext cx="300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1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Spearman 0.308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B97D4D-4B15-47C0-B967-FAD864C4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9585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100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准确率仍有限。</a:t>
            </a:r>
          </a:p>
        </p:txBody>
      </p:sp>
    </p:spTree>
    <p:extLst>
      <p:ext uri="{BB962C8B-B14F-4D97-AF65-F5344CB8AC3E}">
        <p14:creationId xmlns:p14="http://schemas.microsoft.com/office/powerpoint/2010/main" val="17895201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98B4A-3EC6-4E65-A88F-A1C90C6F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CNN配置的三种子对照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7DD03-2505-4540-A931-FF9C7F99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来源：cnn/search.csv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9CEECA-B842-42DF-BC23-1FE35B4B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05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431DF099-A50C-4D6C-96CC-C2C42D732144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723900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74a0e6054546f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9A554-0B46-42FB-B3AA-52077FDD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7165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32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32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C0保留原架构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FD5C65-DB5C-47E2-9580-C5768693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14625"/>
            <a:ext cx="304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pool 5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dropout 0.3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weight decay 0.001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5CD14-6F5C-4D50-80F7-C34378FF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74345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95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95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更大池化长度和更低正则化未稳定改善。</a:t>
            </a:r>
          </a:p>
        </p:txBody>
      </p:sp>
    </p:spTree>
    <p:extLst>
      <p:ext uri="{BB962C8B-B14F-4D97-AF65-F5344CB8AC3E}">
        <p14:creationId xmlns:p14="http://schemas.microsoft.com/office/powerpoint/2010/main" val="8765548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E17C5-D15E-452D-9CBB-BB2005B1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热力学模型的适用范围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F6E76-9525-4798-A57D-7D16B6AD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来源：evaluation/group_metrics.csv；M3 calibration.json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8933A-8B31-40C8-83CA-4A34B2DF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06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F0B7CD1-F17E-49E0-BF90-8B94E2F748C8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723900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d50a07f5e6474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6DD85-853C-42AB-B296-9D997F69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24025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4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热力学可用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EDE1D-2E8E-4586-AB2A-E047C985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38425"/>
            <a:ext cx="30480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已核验TSS支持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30种状态推断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及训练集校准。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CEDBA0-A773-4141-BAC1-114575B6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71975"/>
            <a:ext cx="3048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0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天然RNA表达与转录起始率的测量目标不同。</a:t>
            </a:r>
          </a:p>
        </p:txBody>
      </p:sp>
    </p:spTree>
    <p:extLst>
      <p:ext uri="{BB962C8B-B14F-4D97-AF65-F5344CB8AC3E}">
        <p14:creationId xmlns:p14="http://schemas.microsoft.com/office/powerpoint/2010/main" val="10097543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0616D-19F2-4E4B-B886-5000F3E1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−10窗口具有更一致的Top-k富集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07811-9EA4-46C3-A7D1-A43462FB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来源：explanation_analysis/overlap_summary.csv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023BE-4DF1-41DE-826D-B85AB269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07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10D2F28A-89CF-4EBF-87F9-7D3A2EE3ABB8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723900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83215d50be4d5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AA757-7F78-4C1A-8971-37A68037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14500"/>
            <a:ext cx="3028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17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7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比较扣除区域长度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5AB3A-87F2-46CF-A8B9-49568BEC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1940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17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7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IG与ISM都显示−10正向富集。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DE00A-E836-46C0-83D3-FB997951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6245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95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95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其余区域没有一致的正向证据。盒区仍是模型假设或推定。</a:t>
            </a:r>
          </a:p>
        </p:txBody>
      </p:sp>
    </p:spTree>
    <p:extLst>
      <p:ext uri="{BB962C8B-B14F-4D97-AF65-F5344CB8AC3E}">
        <p14:creationId xmlns:p14="http://schemas.microsoft.com/office/powerpoint/2010/main" val="12703753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865C92-77FC-4A95-ADDC-FF7CB909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IG与ISM部分一致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266D3-1A26-482D-8A2F-D7461C60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来源：explanation_analysis/consistency_summary.csv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5A407-796A-45C0-8220-1C6A98C2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152C5-71A9-4F28-A9E1-056C3D4B4628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2095500"/>
                <a:gridCol w="4629150"/>
              </a:tblGrid>
              <a:tr h="714375">
                <a:tc>
                  <a:txBody>
                    <a:bodyPr lIns="114300" tIns="76200" rIns="114300" bIns="76200"/>
                    <a:lstStyle/>
                    <a:p>
                      <a:pPr algn="l"/>
                      <a:r>
                        <a:rPr sz="1725" b="1">
                          <a:solidFill>
                            <a:srgbClr val="183047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指标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DDE7F0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pPr algn="ctr"/>
                      <a:r>
                        <a:rPr sz="1725" b="1">
                          <a:solidFill>
                            <a:srgbClr val="183047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均值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DDE7F0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pPr algn="ctr"/>
                      <a:r>
                        <a:rPr sz="1725" b="1">
                          <a:solidFill>
                            <a:srgbClr val="183047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95%区间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DDE7F0"/>
                    </a:solidFill>
                  </a:tcPr>
                </a:tc>
              </a:tr>
              <a:tr h="714375">
                <a:tc>
                  <a:txBody>
                    <a:bodyPr lIns="114300" tIns="76200" rIns="114300" bIns="76200"/>
                    <a:lstStyle/>
                    <a:p>
                      <a:pPr algn="l"/>
                      <a:r>
                        <a:rPr sz="1725" b="0">
                          <a:solidFill>
                            <a:srgbClr val="183047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位点排序Spearman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pPr algn="ctr"/>
                      <a:r>
                        <a:rPr sz="1725" b="0">
                          <a:solidFill>
                            <a:srgbClr val="183047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0.510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pPr algn="ctr"/>
                      <a:r>
                        <a:rPr sz="1725" b="0">
                          <a:solidFill>
                            <a:srgbClr val="183047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0.482 至 0.536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14300" tIns="76200" rIns="114300" bIns="76200"/>
                    <a:lstStyle/>
                    <a:p>
                      <a:pPr algn="l"/>
                      <a:r>
                        <a:rPr sz="1725" b="0">
                          <a:solidFill>
                            <a:srgbClr val="183047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Top-5 Jaccard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pPr algn="ctr"/>
                      <a:r>
                        <a:rPr sz="1725" b="0">
                          <a:solidFill>
                            <a:srgbClr val="183047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0.368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pPr algn="ctr"/>
                      <a:r>
                        <a:rPr sz="1725" b="0">
                          <a:solidFill>
                            <a:srgbClr val="183047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0.314 至 0.420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714375">
                <a:tc>
                  <a:txBody>
                    <a:bodyPr lIns="114300" tIns="76200" rIns="114300" bIns="76200"/>
                    <a:lstStyle/>
                    <a:p>
                      <a:pPr algn="l"/>
                      <a:r>
                        <a:rPr sz="1725" b="0">
                          <a:solidFill>
                            <a:srgbClr val="183047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Top-10 Jaccard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pPr algn="ctr"/>
                      <a:r>
                        <a:rPr sz="1725" b="0">
                          <a:solidFill>
                            <a:srgbClr val="183047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0.420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pPr algn="ctr"/>
                      <a:r>
                        <a:rPr sz="1725" b="0">
                          <a:solidFill>
                            <a:srgbClr val="183047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0.388 至 0.457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12B28-C0F7-4774-956A-64EC2AE3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4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归因方法会影响具体Top-k位点选择。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71CCC-937C-443B-AEB2-794B5395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05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87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最低及最高Jaccard各3条案例按固定规则保留，避免只展示符合预期的样本。</a:t>
            </a:r>
          </a:p>
        </p:txBody>
      </p:sp>
    </p:spTree>
    <p:extLst>
      <p:ext uri="{BB962C8B-B14F-4D97-AF65-F5344CB8AC3E}">
        <p14:creationId xmlns:p14="http://schemas.microsoft.com/office/powerpoint/2010/main" val="521307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902340-EAE1-4628-8F56-7B35AE0F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逐步加入特征没有改善R²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6287E-40B0-488A-B92A-2A813660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来源：ablation/stage_summary.csv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0E737C-353F-4BAB-86F6-2EE99E47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09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A20E365-8986-4221-B715-15D998EFCC52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723900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0566897d9543e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228B2-C8FF-4A96-A3EF-3E0469E0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43075"/>
            <a:ext cx="3000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47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7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A0 0.073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82C9C-4B6D-443D-9140-8DA9CCA0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43175"/>
            <a:ext cx="3000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D88B2E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475" b="1">
                <a:solidFill>
                  <a:srgbClr val="D88B2E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75" b="1">
                <a:solidFill>
                  <a:srgbClr val="D88B2E"/>
                </a:solidFill>
                <a:latin typeface="Source Han Sans CN"/>
                <a:ea typeface="Source Han Sans CN"/>
                <a:cs typeface="Source Han Sans CN"/>
              </a:rPr>
              <a:t>A3 -0.027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2655F-9175-4CB0-8E1C-EF34397E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90925"/>
            <a:ext cx="304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新增表示可能引入冗余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和估计方差。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原因仍待检验。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C00F9-D1C1-489D-B179-B50DBC3A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23875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87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融合与纯CNN分别报告。</a:t>
            </a:r>
          </a:p>
        </p:txBody>
      </p:sp>
    </p:spTree>
    <p:extLst>
      <p:ext uri="{BB962C8B-B14F-4D97-AF65-F5344CB8AC3E}">
        <p14:creationId xmlns:p14="http://schemas.microsoft.com/office/powerpoint/2010/main" val="8523745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AF125-0226-4E22-B22A-E69C50D6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高归因位点的突变影响更大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3B052-7EE9-4F7F-8E9A-480C7FD4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来源：mutation/mutation_summary.csv；paired_amplitude.csv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5585B-CA15-4D7C-B0B0-0FB7B5B7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10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5F2AEE1-EB37-4D78-9969-2886066685F8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723900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d251335bfb4cc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84405B-21C6-4F9E-AB3F-301C87FA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4307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4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相同突变数量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0BBE5-EB25-4F46-9732-399AA120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95575"/>
            <a:ext cx="304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100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先按母序列汇总，再重采样64条母序列。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317D5-A97C-41CE-9C8D-1D96DE4A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14825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95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95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随机改变重要位点也可能增强预测。High的有符号均值接近0。</a:t>
            </a:r>
          </a:p>
        </p:txBody>
      </p:sp>
    </p:spTree>
    <p:extLst>
      <p:ext uri="{BB962C8B-B14F-4D97-AF65-F5344CB8AC3E}">
        <p14:creationId xmlns:p14="http://schemas.microsoft.com/office/powerpoint/2010/main" val="14108950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F3CF55-E69C-4F9D-85B2-DD421504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局部方向自洽不等于生物因果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31BCA-6E12-45BF-B9C1-241ED6AF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来源：mutation/direction_summary.csv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A31C4-F924-4C5B-94FD-EE4D7656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11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870FB3CC-5B7D-4406-810B-06D165570756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723900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214a3e74634e6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95E63-902E-403A-BE24-F5F1BEAA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24025"/>
            <a:ext cx="3000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386A91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3450" b="1">
                <a:solidFill>
                  <a:srgbClr val="386A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450" b="1">
                <a:solidFill>
                  <a:srgbClr val="386A91"/>
                </a:solidFill>
                <a:latin typeface="Source Han Sans CN"/>
                <a:ea typeface="Source Han Sans CN"/>
                <a:cs typeface="Source Han Sans CN"/>
              </a:rPr>
              <a:t>98.2%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FEE38-0108-4FEE-8DB6-8D52C773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66975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87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梯度与CNN有限替换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17B72-01FE-4D87-A445-8B7452E6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38550"/>
            <a:ext cx="3000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D88B2E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3450" b="1">
                <a:solidFill>
                  <a:srgbClr val="D88B2E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450" b="1">
                <a:solidFill>
                  <a:srgbClr val="D88B2E"/>
                </a:solidFill>
                <a:latin typeface="Source Han Sans CN"/>
                <a:ea typeface="Source Han Sans CN"/>
                <a:cs typeface="Source Han Sans CN"/>
              </a:rPr>
              <a:t>44.3%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641C0-04F3-455E-A6FE-541954EB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8150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87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CNN与热力学方向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E7D2B-391F-4657-8AAA-095AB098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4006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87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尚无变体的实测强度。</a:t>
            </a:r>
          </a:p>
        </p:txBody>
      </p:sp>
    </p:spTree>
    <p:extLst>
      <p:ext uri="{BB962C8B-B14F-4D97-AF65-F5344CB8AC3E}">
        <p14:creationId xmlns:p14="http://schemas.microsoft.com/office/powerpoint/2010/main" val="14617063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0D21F-9D68-4416-9EF1-0345DE96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跨物种迁移的效果有限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7643C-9922-4617-A1F9-DE783D40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来源：transfer/transfer_metrics.csv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71177C-0508-4432-BF75-0B1785B7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12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4E29BBFE-D0C2-4670-8BD9-735AFEF5FF99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723900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ab02ea7e874ca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640B9-F4AE-4249-87CC-A3E6A6B1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43075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25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最佳观察点约0.263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BE10FA-25AF-4973-B605-C736161C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52750"/>
            <a:ext cx="304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100组目标训练数据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冻结CNN回归头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5A870-0952-4B1D-BB89-6A7783CA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43425"/>
            <a:ext cx="30480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95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95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区间宽且重叠，不能据最高点宣称显著优势。</a:t>
            </a:r>
          </a:p>
        </p:txBody>
      </p:sp>
    </p:spTree>
    <p:extLst>
      <p:ext uri="{BB962C8B-B14F-4D97-AF65-F5344CB8AC3E}">
        <p14:creationId xmlns:p14="http://schemas.microsoft.com/office/powerpoint/2010/main" val="10660990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A65D6-86F0-45B3-97EE-961B1A06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负结果与当前限制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47E1D-E41C-424E-A37C-5BD89A25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来源：M5_FINAL_REPORT.md 研究问题与限制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F6A5F7-11DA-45D1-AC53-AB86E9EC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80EF8-DE54-467F-8AF0-C3976ED1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62100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47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7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冻结DNA表征及融合没有带来性能增益。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09AD9-522E-4F22-8E32-BD70A2DD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52675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当前实验只检验固定编码器和预定回归头，不代表所有预训练方案。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CAF830-ED54-4DF8-BF46-29754AA1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67100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47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7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数据和评价条件限制泛化结论。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9B43D1-097E-4220-BCC9-3277D8BC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67200"/>
            <a:ext cx="107156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100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天然表达标签包含序列之外因素，教师数据元信息缺失。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2100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val参与模型选择，历史随机划分可能共享邻近上下文。</a:t>
            </a:r>
          </a:p>
        </p:txBody>
      </p:sp>
    </p:spTree>
    <p:extLst>
      <p:ext uri="{BB962C8B-B14F-4D97-AF65-F5344CB8AC3E}">
        <p14:creationId xmlns:p14="http://schemas.microsoft.com/office/powerpoint/2010/main" val="1312811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E17BB0-5809-4CBE-A3DF-2779452C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RQ1至RQ3的回答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0F562-B626-42E2-AC56-1A1795EE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来源：evaluation/；explanation_analysis/；mutation/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0D8D5-2578-4881-B9D7-4B513049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3FC29-01AE-47E0-8FBE-C6A4AB7C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47825"/>
            <a:ext cx="138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386A91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625" b="1">
                <a:solidFill>
                  <a:srgbClr val="386A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625" b="1">
                <a:solidFill>
                  <a:srgbClr val="386A91"/>
                </a:solidFill>
                <a:latin typeface="Source Han Sans CN"/>
                <a:ea typeface="Source Han Sans CN"/>
                <a:cs typeface="Source Han Sans CN"/>
              </a:rPr>
              <a:t>RQ1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027FB-6F30-4E38-91DB-B68CBFD4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657350"/>
            <a:ext cx="91154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17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7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CNN在当前验证基准上领先，解释度仍有限。热力学模型可运行，预测天然表达较弱。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4B882-BB11-43E3-B4B3-CE38C4A7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86100"/>
            <a:ext cx="138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386A91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625" b="1">
                <a:solidFill>
                  <a:srgbClr val="386A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625" b="1">
                <a:solidFill>
                  <a:srgbClr val="386A91"/>
                </a:solidFill>
                <a:latin typeface="Source Han Sans CN"/>
                <a:ea typeface="Source Han Sans CN"/>
                <a:cs typeface="Source Han Sans CN"/>
              </a:rPr>
              <a:t>RQ2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45F74-69D7-4AE0-A515-51FB7207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95625"/>
            <a:ext cx="91154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17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7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−10得到两方法的描述性富集支持，具体Top-k随方法变化。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041A80-B297-4648-B2B4-6F348B80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38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386A91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625" b="1">
                <a:solidFill>
                  <a:srgbClr val="386A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625" b="1">
                <a:solidFill>
                  <a:srgbClr val="386A91"/>
                </a:solidFill>
                <a:latin typeface="Source Han Sans CN"/>
                <a:ea typeface="Source Han Sans CN"/>
                <a:cs typeface="Source Han Sans CN"/>
              </a:rPr>
              <a:t>RQ3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16EC1-C3F6-4A39-941A-B2B0911B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33900"/>
            <a:ext cx="91154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17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75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高归因位点更敏感，一阶方向高度自洽。跨模型一致性弱，生物因果仍需实测。</a:t>
            </a:r>
          </a:p>
        </p:txBody>
      </p:sp>
    </p:spTree>
    <p:extLst>
      <p:ext uri="{BB962C8B-B14F-4D97-AF65-F5344CB8AC3E}">
        <p14:creationId xmlns:p14="http://schemas.microsoft.com/office/powerpoint/2010/main" val="15329855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8595F-7DBB-4165-B907-0D4915FF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复现与最终交付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5F154-85EE-4609-8E63-AAE73650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来源：configs/m4_protocol_v1.json；verification.json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3DA35-9FBA-4AC0-AB0E-CE03A74B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E9B5C-2331-46EF-B3F4-B78937EF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906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47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7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统一入口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96F94-F9D8-4408-BC36-FCE4FB11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05050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386A91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325" b="0">
                <a:solidFill>
                  <a:srgbClr val="386A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325" b="0">
                <a:solidFill>
                  <a:srgbClr val="386A91"/>
                </a:solidFill>
                <a:latin typeface="Source Han Sans CN"/>
                <a:ea typeface="Source Han Sans CN"/>
                <a:cs typeface="Source Han Sans CN"/>
              </a:rPr>
              <a:t>python -m pr02 m4 --stage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38D70-40D8-418A-B3BD-3E3584BF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242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47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7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代码与结果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A2696-3F59-452C-83F3-2A2C52F6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100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固定配置、输入与源码摘要、逐条预测、特征ID和可编辑图表。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25CFD-9B1A-4D55-A1D5-25F035EA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768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247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75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下一步研究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541D72-F24F-4850-B6DD-26F18DA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054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87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优先取得独立实验数据，开展严格基因组分组评价和真实突变测量。</a:t>
            </a:r>
          </a:p>
        </p:txBody>
      </p:sp>
    </p:spTree>
    <p:extLst>
      <p:ext uri="{BB962C8B-B14F-4D97-AF65-F5344CB8AC3E}">
        <p14:creationId xmlns:p14="http://schemas.microsoft.com/office/powerpoint/2010/main" val="2863540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A182C6-D772-45CB-BA62-EACAD956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300" b="1">
                <a:solidFill>
                  <a:srgbClr val="183047"/>
                </a:solidFill>
                <a:latin typeface="Source Han Sans CN"/>
                <a:ea typeface="Source Han Sans CN"/>
                <a:cs typeface="Source Han Sans CN"/>
              </a:rPr>
              <a:t>数据与方法来源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3FCD6-F312-483A-A320-BAC28B39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12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来源：仓库来源清单及最终报告参考文献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2E20A-57E8-4FDC-AC70-5BFCBF72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8A8C8-3C62-43E6-8C6B-E2CB389770BD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677150"/>
              </a:tblGrid>
              <a:tr h="619125">
                <a:tc>
                  <a:txBody>
                    <a:bodyPr lIns="114300" tIns="76200" rIns="114300" bIns="76200"/>
                    <a:lstStyle/>
                    <a:p>
                      <a:pPr algn="l"/>
                      <a:r>
                        <a:rPr sz="1725" b="1">
                          <a:solidFill>
                            <a:srgbClr val="183047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来源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DDE7F0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pPr algn="ctr"/>
                      <a:r>
                        <a:rPr sz="1725" b="1">
                          <a:solidFill>
                            <a:srgbClr val="183047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DDE7F0"/>
                    </a:solidFill>
                  </a:tcPr>
                </a:tc>
              </a:tr>
              <a:tr h="619125">
                <a:tc>
                  <a:txBody>
                    <a:bodyPr lIns="114300" tIns="76200" rIns="114300" bIns="76200"/>
                    <a:lstStyle/>
                    <a:p>
                      <a:pPr algn="l"/>
                      <a:r>
                        <a:rPr sz="1725" b="0">
                          <a:solidFill>
                            <a:srgbClr val="183047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原始50bp数据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pPr algn="ctr"/>
                      <a:r>
                        <a:rPr sz="1725" b="0">
                          <a:solidFill>
                            <a:srgbClr val="183047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HaochenW/Deep_promoter 与原论文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14300" tIns="76200" rIns="114300" bIns="76200"/>
                    <a:lstStyle/>
                    <a:p>
                      <a:pPr algn="l"/>
                      <a:r>
                        <a:rPr sz="1725" b="0">
                          <a:solidFill>
                            <a:srgbClr val="183047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TSS定位证据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pPr algn="ctr"/>
                      <a:r>
                        <a:rPr sz="1725" b="0">
                          <a:solidFill>
                            <a:srgbClr val="183047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Thomason等TSS图谱及历史参考U00096.2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619125">
                <a:tc>
                  <a:txBody>
                    <a:bodyPr lIns="114300" tIns="76200" rIns="114300" bIns="76200"/>
                    <a:lstStyle/>
                    <a:p>
                      <a:pPr algn="l"/>
                      <a:r>
                        <a:rPr sz="1725" b="0">
                          <a:solidFill>
                            <a:srgbClr val="183047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热力学模型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pPr algn="ctr"/>
                      <a:r>
                        <a:rPr sz="1725" b="0">
                          <a:solidFill>
                            <a:srgbClr val="183047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Promoter Calculator，Nature Communications 2022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14300" tIns="76200" rIns="114300" bIns="76200"/>
                    <a:lstStyle/>
                    <a:p>
                      <a:pPr algn="l"/>
                      <a:r>
                        <a:rPr sz="1725" b="0">
                          <a:solidFill>
                            <a:srgbClr val="183047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DNA预训练模型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pPr algn="ctr"/>
                      <a:r>
                        <a:rPr sz="1725" b="0">
                          <a:solidFill>
                            <a:srgbClr val="183047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DNABERT-2，官方117M固定revision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619125">
                <a:tc>
                  <a:txBody>
                    <a:bodyPr lIns="114300" tIns="76200" rIns="114300" bIns="76200"/>
                    <a:lstStyle/>
                    <a:p>
                      <a:pPr algn="l"/>
                      <a:r>
                        <a:rPr sz="1725" b="0">
                          <a:solidFill>
                            <a:srgbClr val="183047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本项目结果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pPr algn="ctr"/>
                      <a:r>
                        <a:rPr sz="1725" b="0">
                          <a:solidFill>
                            <a:srgbClr val="183047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Azusakada/PR02-01-promoter--insight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A02C1-E868-44C6-8FBA-E1CC7B8C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00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87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0">
                <a:solidFill>
                  <a:srgbClr val="51616F"/>
                </a:solidFill>
                <a:latin typeface="Source Han Sans CN"/>
                <a:ea typeface="Source Han Sans CN"/>
                <a:cs typeface="Source Han Sans CN"/>
              </a:rPr>
              <a:t>教师CSV的论文、单位、TSS和测量条件仍记为unknown。</a:t>
            </a:r>
          </a:p>
        </p:txBody>
      </p:sp>
    </p:spTree>
    <p:extLst>
      <p:ext uri="{BB962C8B-B14F-4D97-AF65-F5344CB8AC3E}">
        <p14:creationId xmlns:p14="http://schemas.microsoft.com/office/powerpoint/2010/main" val="1841522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2026-10-14T05:05:19.3080000Z</dcterms:created>
  <dcterms:modified xsi:type="dcterms:W3CDTF">2026-10-14T05:05:19.3080000Z</dcterms:modified>
</coreProperties>
</file>