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8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9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0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8a4915cb8341ac" /><Relationship Type="http://schemas.openxmlformats.org/officeDocument/2006/relationships/extended-properties" Target="/docProps/app.xml" Id="Rfe351fc37766482c" /><Relationship Type="http://schemas.openxmlformats.org/officeDocument/2006/relationships/officeDocument" Target="/ppt/presentation.xml" Id="Rdb0b912bc1ee41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fcd7aac570471e"/>
  </p:sldMasterIdLst>
  <p:notesMasterIdLst>
    <p:notesMasterId xmlns:r="http://schemas.openxmlformats.org/officeDocument/2006/relationships" r:id="Ra5228d1a7379413e"/>
  </p:notesMasterIdLst>
  <p:sldIdLst>
    <p:sldId xmlns:r="http://schemas.openxmlformats.org/officeDocument/2006/relationships" id="256" r:id="R2b09688c123d455e"/>
    <p:sldId xmlns:r="http://schemas.openxmlformats.org/officeDocument/2006/relationships" id="257" r:id="R5bb2455789d44bee"/>
    <p:sldId xmlns:r="http://schemas.openxmlformats.org/officeDocument/2006/relationships" id="258" r:id="Re7cfde66aa054f7e"/>
    <p:sldId xmlns:r="http://schemas.openxmlformats.org/officeDocument/2006/relationships" id="259" r:id="R7da7f09332724281"/>
    <p:sldId xmlns:r="http://schemas.openxmlformats.org/officeDocument/2006/relationships" id="260" r:id="Refe5dc1e346f491e"/>
    <p:sldId xmlns:r="http://schemas.openxmlformats.org/officeDocument/2006/relationships" id="261" r:id="R5548aea5e5044e2c"/>
    <p:sldId xmlns:r="http://schemas.openxmlformats.org/officeDocument/2006/relationships" id="262" r:id="Raa99cbdab04a489e"/>
    <p:sldId xmlns:r="http://schemas.openxmlformats.org/officeDocument/2006/relationships" id="263" r:id="R771837160a0f4f98"/>
    <p:sldId xmlns:r="http://schemas.openxmlformats.org/officeDocument/2006/relationships" id="264" r:id="R6e2425d6e7a04497"/>
    <p:sldId xmlns:r="http://schemas.openxmlformats.org/officeDocument/2006/relationships" id="265" r:id="R4e4d2988f9564bcd"/>
    <p:sldId xmlns:r="http://schemas.openxmlformats.org/officeDocument/2006/relationships" id="266" r:id="Rcb468157ea2649b2"/>
    <p:sldId xmlns:r="http://schemas.openxmlformats.org/officeDocument/2006/relationships" id="267" r:id="Re3688b64c38c4ed0"/>
    <p:sldId xmlns:r="http://schemas.openxmlformats.org/officeDocument/2006/relationships" id="268" r:id="Rdab1ed7c1b404673"/>
    <p:sldId xmlns:r="http://schemas.openxmlformats.org/officeDocument/2006/relationships" id="269" r:id="Rc10f1c9b2bd54dc2"/>
    <p:sldId xmlns:r="http://schemas.openxmlformats.org/officeDocument/2006/relationships" id="270" r:id="R1128a4b0e38640ff"/>
    <p:sldId xmlns:r="http://schemas.openxmlformats.org/officeDocument/2006/relationships" id="271" r:id="R2c96c358598e4a25"/>
    <p:sldId xmlns:r="http://schemas.openxmlformats.org/officeDocument/2006/relationships" id="272" r:id="Rd66f882e89b44f58"/>
    <p:sldId xmlns:r="http://schemas.openxmlformats.org/officeDocument/2006/relationships" id="273" r:id="R81c4d0e75ecf422a"/>
    <p:sldId xmlns:r="http://schemas.openxmlformats.org/officeDocument/2006/relationships" id="274" r:id="R4e9c22198ffa4f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375d63f2d74d7d" /><Relationship Type="http://schemas.openxmlformats.org/officeDocument/2006/relationships/slideMaster" Target="/ppt/slideMasters/slideMaster1.xml" Id="Rbdfcd7aac570471e" /><Relationship Type="http://schemas.openxmlformats.org/officeDocument/2006/relationships/notesMaster" Target="/ppt/notesMasters/notesMaster1.xml" Id="Ra5228d1a7379413e" /><Relationship Type="http://schemas.openxmlformats.org/officeDocument/2006/relationships/presProps" Target="/ppt/presProps.xml" Id="Rc0f0a9829f844940" /><Relationship Type="http://schemas.openxmlformats.org/officeDocument/2006/relationships/tableStyles" Target="/ppt/tableStyles.xml" Id="R6bb36d612acd4375" /><Relationship Type="http://schemas.openxmlformats.org/officeDocument/2006/relationships/slide" Target="/ppt/slides/slide1.xml" Id="R2b09688c123d455e" /><Relationship Type="http://schemas.openxmlformats.org/officeDocument/2006/relationships/slide" Target="/ppt/slides/slide2.xml" Id="R5bb2455789d44bee" /><Relationship Type="http://schemas.openxmlformats.org/officeDocument/2006/relationships/slide" Target="/ppt/slides/slide3.xml" Id="Re7cfde66aa054f7e" /><Relationship Type="http://schemas.openxmlformats.org/officeDocument/2006/relationships/slide" Target="/ppt/slides/slide4.xml" Id="R7da7f09332724281" /><Relationship Type="http://schemas.openxmlformats.org/officeDocument/2006/relationships/slide" Target="/ppt/slides/slide5.xml" Id="Refe5dc1e346f491e" /><Relationship Type="http://schemas.openxmlformats.org/officeDocument/2006/relationships/slide" Target="/ppt/slides/slide6.xml" Id="R5548aea5e5044e2c" /><Relationship Type="http://schemas.openxmlformats.org/officeDocument/2006/relationships/slide" Target="/ppt/slides/slide7.xml" Id="Raa99cbdab04a489e" /><Relationship Type="http://schemas.openxmlformats.org/officeDocument/2006/relationships/slide" Target="/ppt/slides/slide8.xml" Id="R771837160a0f4f98" /><Relationship Type="http://schemas.openxmlformats.org/officeDocument/2006/relationships/slide" Target="/ppt/slides/slide9.xml" Id="R6e2425d6e7a04497" /><Relationship Type="http://schemas.openxmlformats.org/officeDocument/2006/relationships/slide" Target="/ppt/slides/slide10.xml" Id="R4e4d2988f9564bcd" /><Relationship Type="http://schemas.openxmlformats.org/officeDocument/2006/relationships/slide" Target="/ppt/slides/slide11.xml" Id="Rcb468157ea2649b2" /><Relationship Type="http://schemas.openxmlformats.org/officeDocument/2006/relationships/slide" Target="/ppt/slides/slide12.xml" Id="Re3688b64c38c4ed0" /><Relationship Type="http://schemas.openxmlformats.org/officeDocument/2006/relationships/slide" Target="/ppt/slides/slide13.xml" Id="Rdab1ed7c1b404673" /><Relationship Type="http://schemas.openxmlformats.org/officeDocument/2006/relationships/slide" Target="/ppt/slides/slide14.xml" Id="Rc10f1c9b2bd54dc2" /><Relationship Type="http://schemas.openxmlformats.org/officeDocument/2006/relationships/slide" Target="/ppt/slides/slide15.xml" Id="R1128a4b0e38640ff" /><Relationship Type="http://schemas.openxmlformats.org/officeDocument/2006/relationships/slide" Target="/ppt/slides/slide16.xml" Id="R2c96c358598e4a25" /><Relationship Type="http://schemas.openxmlformats.org/officeDocument/2006/relationships/slide" Target="/ppt/slides/slide17.xml" Id="Rd66f882e89b44f58" /><Relationship Type="http://schemas.openxmlformats.org/officeDocument/2006/relationships/slide" Target="/ppt/slides/slide18.xml" Id="R81c4d0e75ecf422a" /><Relationship Type="http://schemas.openxmlformats.org/officeDocument/2006/relationships/slide" Target="/ppt/slides/slide19.xml" Id="R4e9c22198ffa4f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426971e3b649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610e1a9ad44e66" /><Relationship Type="http://schemas.openxmlformats.org/officeDocument/2006/relationships/notesMaster" Target="/ppt/notesMasters/notesMaster1.xml" Id="R64f521b011bd44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41a283b2334887" /><Relationship Type="http://schemas.openxmlformats.org/officeDocument/2006/relationships/notesMaster" Target="/ppt/notesMasters/notesMaster1.xml" Id="Re9e8ad50cf3847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caa8c23bc64c84" /><Relationship Type="http://schemas.openxmlformats.org/officeDocument/2006/relationships/notesMaster" Target="/ppt/notesMasters/notesMaster1.xml" Id="Rb57e9964a1a346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4decb501ec4518" /><Relationship Type="http://schemas.openxmlformats.org/officeDocument/2006/relationships/notesMaster" Target="/ppt/notesMasters/notesMaster1.xml" Id="R45d299402eb64a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71977054694c28" /><Relationship Type="http://schemas.openxmlformats.org/officeDocument/2006/relationships/notesMaster" Target="/ppt/notesMasters/notesMaster1.xml" Id="R5ca842f5509b44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cf732f17ce4e13" /><Relationship Type="http://schemas.openxmlformats.org/officeDocument/2006/relationships/notesMaster" Target="/ppt/notesMasters/notesMaster1.xml" Id="R4b9d203e428249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3f98b689104cac" /><Relationship Type="http://schemas.openxmlformats.org/officeDocument/2006/relationships/notesMaster" Target="/ppt/notesMasters/notesMaster1.xml" Id="R67cbb56db67242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95331866cd473d" /><Relationship Type="http://schemas.openxmlformats.org/officeDocument/2006/relationships/notesMaster" Target="/ppt/notesMasters/notesMaster1.xml" Id="R8e649e3277364b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7903f3fa17468c" /><Relationship Type="http://schemas.openxmlformats.org/officeDocument/2006/relationships/notesMaster" Target="/ppt/notesMasters/notesMaster1.xml" Id="Rf433a7c1663443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4aba7c1d0c4701" /><Relationship Type="http://schemas.openxmlformats.org/officeDocument/2006/relationships/notesMaster" Target="/ppt/notesMasters/notesMaster1.xml" Id="R74711159342344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6ecd18047b418e" /><Relationship Type="http://schemas.openxmlformats.org/officeDocument/2006/relationships/notesMaster" Target="/ppt/notesMasters/notesMaster1.xml" Id="R731d09ea91df47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7a263a48b54cb0" /><Relationship Type="http://schemas.openxmlformats.org/officeDocument/2006/relationships/notesMaster" Target="/ppt/notesMasters/notesMaster1.xml" Id="Rd0f3083b7dfd4f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5fc6cf103f4890" /><Relationship Type="http://schemas.openxmlformats.org/officeDocument/2006/relationships/notesMaster" Target="/ppt/notesMasters/notesMaster1.xml" Id="Ra629344b1b094f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683309fe624d42" /><Relationship Type="http://schemas.openxmlformats.org/officeDocument/2006/relationships/notesMaster" Target="/ppt/notesMasters/notesMaster1.xml" Id="R3420598ebab945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062c06cf3e44906" /><Relationship Type="http://schemas.openxmlformats.org/officeDocument/2006/relationships/notesMaster" Target="/ppt/notesMasters/notesMaster1.xml" Id="R5285a67c1e574da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5104297f6dc4d64" /><Relationship Type="http://schemas.openxmlformats.org/officeDocument/2006/relationships/notesMaster" Target="/ppt/notesMasters/notesMaster1.xml" Id="R6b3daf2c800c438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d03fa834ce4009" /><Relationship Type="http://schemas.openxmlformats.org/officeDocument/2006/relationships/notesMaster" Target="/ppt/notesMasters/notesMaster1.xml" Id="R5a171436ae734d9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d6c6e1ce0094fe9" /><Relationship Type="http://schemas.openxmlformats.org/officeDocument/2006/relationships/notesMaster" Target="/ppt/notesMasters/notesMaster1.xml" Id="R5a812f1643ff4ff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6cc37b9e171479c" /><Relationship Type="http://schemas.openxmlformats.org/officeDocument/2006/relationships/notesMaster" Target="/ppt/notesMasters/notesMaster1.xml" Id="R59ee218f8bd047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本研究比较大肠杆菌启动子相关表达的预测模型，分析关键区域，并以计算突变和跨物种迁移检验解释范围。</a:t>
            </a:r>
          </a:p>
          <a:p xmlns:a="http://schemas.openxmlformats.org/drawingml/2006/main">
            <a:r>
              <a:t>来源：reports/final/PR02-01_REPORT.md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RQ1使用共同样本对照R²和Spearman，并检查强度分组误差。RQ2比较归因位点与UP、−35、spacer和−10区域。RQ3使用等数量替换和单点方向检验。变体结果均为计算预测。</a:t>
            </a:r>
          </a:p>
          <a:p xmlns:a="http://schemas.openxmlformats.org/drawingml/2006/main">
            <a:r>
              <a:t>数据与方法依据：</a:t>
            </a:r>
          </a:p>
          <a:p xmlns:a="http://schemas.openxmlformats.org/drawingml/2006/main">
            <a:r>
              <a:t>project-pool(2).pdf，PR02-01条目</a:t>
            </a:r>
          </a:p>
          <a:p xmlns:a="http://schemas.openxmlformats.org/drawingml/2006/main">
            <a:r>
              <a:t>reports/final/PR02-01_REPORT.md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肠杆菌原始11,884条记录中，11,809条参考位置唯一，75条多位置命中记录排除。使用历史参考U00096.2双链定位并与Thomason原TSS表核对，保留原标签和继承划分。目标域591行对应580种序列，相同序列绑定分组。历史test曾用于项目早期分析，所有结果按内部基准解释。</a:t>
            </a:r>
          </a:p>
          <a:p xmlns:a="http://schemas.openxmlformats.org/drawingml/2006/main">
            <a:r>
              <a:t>数据与方法依据：</a:t>
            </a:r>
          </a:p>
          <a:p xmlns:a="http://schemas.openxmlformats.org/drawingml/2006/main">
            <a:r>
              <a:t>data/03_Ecoli_strength87/source_manifest.json</a:t>
            </a:r>
          </a:p>
          <a:p xmlns:a="http://schemas.openxmlformats.org/drawingml/2006/main">
            <a:r>
              <a:t>data/04_Bsub_strength61/data_manifest.json</a:t>
            </a:r>
          </a:p>
          <a:p xmlns:a="http://schemas.openxmlformats.org/drawingml/2006/main">
            <a:r>
              <a:t>https://doi.org/10.1093/nar/gkaa325</a:t>
            </a:r>
          </a:p>
          <a:p xmlns:a="http://schemas.openxmlformats.org/drawingml/2006/main">
            <a:r>
              <a:t>https://doi.org/10.1128/JB.02096-14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固定窗口依次为UP[7,31)、−35[32,38)、spacer[38,55)、−10[55,61)、discriminator[61,67)和初始转录区[67,87)。索引31为固定参考布局中的间隔。Promoter Calculator在核验TSS处枚举spacer15至20 bp和discriminator6至10 bp，共30种状态，选择最小自由能状态。原始Tx_rate使用train拟合的log10线性关系校准到表达尺度。固定窗口和工具推定盒区都没有逐条结合位点实测注释。</a:t>
            </a:r>
          </a:p>
          <a:p xmlns:a="http://schemas.openxmlformats.org/drawingml/2006/main">
            <a:r>
              <a:t>数据与方法依据：</a:t>
            </a:r>
          </a:p>
          <a:p xmlns:a="http://schemas.openxmlformats.org/drawingml/2006/main">
            <a:r>
              <a:t>contracts/CONTEXT87_V3.md</a:t>
            </a:r>
          </a:p>
          <a:p xmlns:a="http://schemas.openxmlformats.org/drawingml/2006/main">
            <a:r>
              <a:t>pr02/context87/experiment.py</a:t>
            </a:r>
          </a:p>
          <a:p xmlns:a="http://schemas.openxmlformats.org/drawingml/2006/main">
            <a:r>
              <a:t>https://doi.org/10.1038/s41467-022-32829-5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原始表达具有较长右尾，使用log10尺度拟合。固定−10窗口平均GC为0.2326，但其共识匹配与表达的Spearman仅−0.0221。固定−35匹配为0.0189。工具推定spacer17 bp占52.38%，长度与表达Spearman为−0.0008。单一局部描述符不足以可靠排序，不能据此排除组合效应。</a:t>
            </a:r>
          </a:p>
          <a:p xmlns:a="http://schemas.openxmlformats.org/drawingml/2006/main">
            <a:r>
              <a:t>数据与方法依据：</a:t>
            </a:r>
          </a:p>
          <a:p xmlns:a="http://schemas.openxmlformats.org/drawingml/2006/main">
            <a:r>
              <a:t>data/03_Ecoli_strength87/samples.tsv</a:t>
            </a:r>
          </a:p>
          <a:p xmlns:a="http://schemas.openxmlformats.org/drawingml/2006/main">
            <a:r>
              <a:t>runs/ecoli87_m3_completion_20261013_v1/source_tables/spacing_correlations.csv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CNN四组配置各训练三个种子，以平均验证MSE选择C0。C0为两层卷积32/64通道、核7/5、池化长度5、隐藏层32、dropout0.3、weight decay0.001，最多100轮，patience15。DNA采用官方DNABERT-2-117M固定revision，冻结编码器，平均有效序列token得到768维表征。所有R²、RMSE、MAE在log10尺度计算，Spearman评价排序。验证集参与选参。</a:t>
            </a:r>
          </a:p>
          <a:p xmlns:a="http://schemas.openxmlformats.org/drawingml/2006/main">
            <a:r>
              <a:t>数据与方法依据：</a:t>
            </a:r>
          </a:p>
          <a:p xmlns:a="http://schemas.openxmlformats.org/drawingml/2006/main">
            <a:r>
              <a:t>configs/m4_protocol_v1.json</a:t>
            </a:r>
          </a:p>
          <a:p xmlns:a="http://schemas.openxmlformats.org/drawingml/2006/main">
            <a:r>
              <a:t>configs/m4_refinement_v2.json</a:t>
            </a:r>
          </a:p>
          <a:p xmlns:a="http://schemas.openxmlformats.org/drawingml/2006/main">
            <a:r>
              <a:t>https://arxiv.org/abs/2306.15006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KNN、LinearSVR、Promoter Calculator和CNN保留原训练设计。主表更新k-mer和DNA的Ridge头。CNN的R²为0.115967±0.007110，Spearman0.307694±0.014280。训练均值R²接近0，Spearman未定义。该验证集用于选参，分数属于内部描述性比较，不能当作外部盲测成绩。</a:t>
            </a:r>
          </a:p>
          <a:p xmlns:a="http://schemas.openxmlformats.org/drawingml/2006/main">
            <a:r>
              <a:t>数据与方法依据：</a:t>
            </a:r>
          </a:p>
          <a:p xmlns:a="http://schemas.openxmlformats.org/drawingml/2006/main">
            <a:r>
              <a:t>runs/m4_complete_20261014_v1/evaluation/model_summary.csv</a:t>
            </a:r>
          </a:p>
          <a:p xmlns:a="http://schemas.openxmlformats.org/drawingml/2006/main">
            <a:r>
              <a:t>runs/m4_refinement_20261014_v2/regularization/summary.csv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为256维k-mer，A1增加320维CNN池化表征，A2增加768维冻结DNA，A3增加训练IG选择区域的特征。A1至A3均以三个配对种子计分。所有11个源域回归头选择内部候选alpha10000。A3的平均R²从−0.027259变为0.114434。扩展后A2低于A1，A3有所回升但未超过A1，未提供稳定递增收益的证据。</a:t>
            </a:r>
          </a:p>
          <a:p xmlns:a="http://schemas.openxmlformats.org/drawingml/2006/main">
            <a:r>
              <a:t>数据与方法依据：</a:t>
            </a:r>
          </a:p>
          <a:p xmlns:a="http://schemas.openxmlformats.org/drawingml/2006/main">
            <a:r>
              <a:t>runs/m4_complete_20261014_v1/ablation/stage_summary.csv</a:t>
            </a:r>
          </a:p>
          <a:p xmlns:a="http://schemas.openxmlformats.org/drawingml/2006/main">
            <a:r>
              <a:t>runs/m4_refinement_20261014_v2/regularization/summary.csv</a:t>
            </a:r>
          </a:p>
          <a:p xmlns:a="http://schemas.openxmlformats.org/drawingml/2006/main">
            <a:r>
              <a:t>runs/m4_refinement_20261014_v2/regularization/search.csv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train/dev/evaluation为5985/2003/1998条，仅使用原train与val，排除49条跨区域边界窗口及1774条历史test。相同序列及其反向互补副本绑定分组。所有监督预处理、CNN、热力学校准和归因选区重新拟合新train，以dev早停与选参。该设计是同一基因组一次内部空间划分，历史标签曾参与项目开发。与原验证集的组成不同，不能用分数差直接估计泄漏影响。</a:t>
            </a:r>
          </a:p>
          <a:p xmlns:a="http://schemas.openxmlformats.org/drawingml/2006/main">
            <a:r>
              <a:t>数据与方法依据：</a:t>
            </a:r>
          </a:p>
          <a:p xmlns:a="http://schemas.openxmlformats.org/drawingml/2006/main">
            <a:r>
              <a:t>runs/m4_refinement_20261014_v2/grouped/split_audit.json</a:t>
            </a:r>
          </a:p>
          <a:p xmlns:a="http://schemas.openxmlformats.org/drawingml/2006/main">
            <a:r>
              <a:t>runs/m4_refinement_20261014_v2/grouped/summary.csv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64条验证母序列，IG采用均匀0.25基线与64步梯形积分。ISM为每个位点三种替换的平均绝对log10变化。在IG与ISM、固定及PC推定窗口、Top5及Top10全部组合下，−10三个种子的平均富集均为正。均匀随机位置是描述性参照，未消除TSS对齐和模型位置偏好，也未进行多重比较校正。</a:t>
            </a:r>
          </a:p>
          <a:p xmlns:a="http://schemas.openxmlformats.org/drawingml/2006/main">
            <a:r>
              <a:t>数据与方法依据：</a:t>
            </a:r>
          </a:p>
          <a:p xmlns:a="http://schemas.openxmlformats.org/drawingml/2006/main">
            <a:r>
              <a:t>runs/m4_refinement_20261014_v2/attribution_stability/region_by_seed.csv</a:t>
            </a:r>
          </a:p>
          <a:p xmlns:a="http://schemas.openxmlformats.org/drawingml/2006/main">
            <a:r>
              <a:t>runs/m4_refinement_20261014_v2/attribution_stability/region_across_seeds.csv</a:t>
            </a:r>
          </a:p>
          <a:p xmlns:a="http://schemas.openxmlformats.org/drawingml/2006/main">
            <a:r>
              <a:t>https://proceedings.mlr.press/v70/sundararajan17a.html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同一CNN的IG与ISM位点排序相关为0.5105，Top5 Jaccard0.3677。跨种子IG相关0.2861，ISM相关0.4242。跨种子Top5 Jaccard分别0.2024和0.2522。区域富集一致与单个位点清单不稳定可以同时存在。IG沿连续基线积分，ISM评价离散替换，定义差异也会影响局部排序。</a:t>
            </a:r>
          </a:p>
          <a:p xmlns:a="http://schemas.openxmlformats.org/drawingml/2006/main">
            <a:r>
              <a:t>数据与方法依据：</a:t>
            </a:r>
          </a:p>
          <a:p xmlns:a="http://schemas.openxmlformats.org/drawingml/2006/main">
            <a:r>
              <a:t>runs/m4_complete_20261014_v1/explanation_analysis/consistency_summary.csv</a:t>
            </a:r>
          </a:p>
          <a:p xmlns:a="http://schemas.openxmlformats.org/drawingml/2006/main">
            <a:r>
              <a:t>runs/m4_refinement_20261014_v2/attribution_stability/cross_seed_summary.csv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和Low分别选择IG最高和最低5位。Random从两组之外抽取5位，所有替换均改变原碱基。先在母序列内汇总，再按母序列bootstrap。High−Random平均绝对变化差0.05995，95%区间0.03673至0.08319。High有符号均值接近0，重要位点的随机替换不预设增强或减弱。这些结果衡量代表CNN的输出敏感性。</a:t>
            </a:r>
          </a:p>
          <a:p xmlns:a="http://schemas.openxmlformats.org/drawingml/2006/main">
            <a:r>
              <a:t>数据与方法依据：</a:t>
            </a:r>
          </a:p>
          <a:p xmlns:a="http://schemas.openxmlformats.org/drawingml/2006/main">
            <a:r>
              <a:t>runs/m4_complete_20261014_v1/mutation/mutation_summary.csv</a:t>
            </a:r>
          </a:p>
          <a:p xmlns:a="http://schemas.openxmlformats.org/drawingml/2006/main">
            <a:r>
              <a:t>runs/m4_complete_20261014_v1/mutation/paired_amplitude.csv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期变化来自野生型梯度的替换通道减原通道。近零阈值10的负4次方log10。预期正向477条、负向483条。梯度与CNN一致率98.229%，95%母序列聚类区间97.292%至99.063%。CNN与热力学一致率44.271%。这反映模型局部自洽及预测函数分歧，缺少实测变体标签，不能证明生物因果指导作用。</a:t>
            </a:r>
          </a:p>
          <a:p xmlns:a="http://schemas.openxmlformats.org/drawingml/2006/main">
            <a:r>
              <a:t>数据与方法依据：</a:t>
            </a:r>
          </a:p>
          <a:p xmlns:a="http://schemas.openxmlformats.org/drawingml/2006/main">
            <a:r>
              <a:t>runs/m4_complete_20261014_v1/mutation/direction_summary.csv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每次排列内20/50/100训练组嵌套，共30项few-shot拟合及2项zero-shot。标准差来自五次训练组抽样，未代表所有泛化不确定性。100组冻结CNN的Spearman均值0.20747±0.01617，zero-shot CNN0.21609。旧单次抽样约0.263还使用不同正则化范围，两组变化不能只归于抽样。目标单位未知，zero-shot绝对误差只作诊断。目标test曾用于项目历史分析。</a:t>
            </a:r>
          </a:p>
          <a:p xmlns:a="http://schemas.openxmlformats.org/drawingml/2006/main">
            <a:r>
              <a:t>数据与方法依据：</a:t>
            </a:r>
          </a:p>
          <a:p xmlns:a="http://schemas.openxmlformats.org/drawingml/2006/main">
            <a:r>
              <a:t>runs/m4_refinement_20261014_v2/transfer_stability/summary.csv</a:t>
            </a:r>
          </a:p>
          <a:p xmlns:a="http://schemas.openxmlformats.org/drawingml/2006/main">
            <a:r>
              <a:t>runs/m4_refinement_20261014_v2/transfer_stability/metrics.csv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域标签来自天然转录组，还包含细胞状态及转录后过程的影响。热力学模型针对转录起始率，其拟合较弱不能单独归因于数据或模型。中强度组热力学MAE0.1723低于CNN0.2003，但仍高于训练均值基线0.1644。原验证集参与选参，空间分组只有一次，历史源域及目标test曾被观察，结论限定内部评价。归因富集采用描述性区间，未作多重比较校正。</a:t>
            </a:r>
          </a:p>
          <a:p xmlns:a="http://schemas.openxmlformats.org/drawingml/2006/main">
            <a:r>
              <a:t>数据与方法依据：</a:t>
            </a:r>
          </a:p>
          <a:p xmlns:a="http://schemas.openxmlformats.org/drawingml/2006/main">
            <a:r>
              <a:t>reports/final/PR02-01_REPORT.md，第7、12节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Q1：CNN和k-mer表征在本数据上优于校准热力学，整体R²约0.1。正则化显著影响融合结果，增加DNA和归因特征没有稳定递增收益。RQ2：−10区域富集跨方法和种子较一致，精确碱基位置不稳定。RQ3：高归因位置更敏感，梯度较好预测CNN单点方向，但缺少变体实测标签，生物因果仍需独立验证。数据、预测、源码、报告及重建入口保存在项目仓库。</a:t>
            </a:r>
          </a:p>
          <a:p xmlns:a="http://schemas.openxmlformats.org/drawingml/2006/main">
            <a:r>
              <a:t>数据与方法依据：</a:t>
            </a:r>
          </a:p>
          <a:p xmlns:a="http://schemas.openxmlformats.org/drawingml/2006/main">
            <a:r>
              <a:t>reports/final/PR02-01_REPORT.md</a:t>
            </a:r>
          </a:p>
          <a:p xmlns:a="http://schemas.openxmlformats.org/drawingml/2006/main">
            <a:r>
              <a:t>https://github.com/Azusakada/PR02-01-promoter--insight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CNN先按三个种子分别计算组内MAE，再取均值。k-mer Ridge使用扩展正则化头。中强度样本的标签接近训练均值，因此常数预测的组内MAE较低，不能把热力学低于CNN解释为机制优势。</a:t>
            </a:r>
          </a:p>
          <a:p xmlns:a="http://schemas.openxmlformats.org/drawingml/2006/main">
            <a:r>
              <a:t>数据与方法依据：</a:t>
            </a:r>
          </a:p>
          <a:p xmlns:a="http://schemas.openxmlformats.org/drawingml/2006/main">
            <a:r>
              <a:t>reports/final/report_content.json，checks.group_mae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表格为log10尺度R²及Spearman的均值。CNN和A1至A3分别保留三个种子，标准差见完整报告。训练均值Spearman未定义。原划分val为1768条，空间evaluation为1998条。两个集合不能视作同一批样本的严格配对泛化比较。</a:t>
            </a:r>
          </a:p>
          <a:p xmlns:a="http://schemas.openxmlformats.org/drawingml/2006/main">
            <a:r>
              <a:t>数据与方法依据：</a:t>
            </a:r>
          </a:p>
          <a:p xmlns:a="http://schemas.openxmlformats.org/drawingml/2006/main">
            <a:r>
              <a:t>runs/m4_complete_20261014_v1/evaluation/model_summary.csv</a:t>
            </a:r>
          </a:p>
          <a:p xmlns:a="http://schemas.openxmlformats.org/drawingml/2006/main">
            <a:r>
              <a:t>runs/m4_refinement_20261014_v2/regularization/summary.csv</a:t>
            </a:r>
          </a:p>
          <a:p xmlns:a="http://schemas.openxmlformats.org/drawingml/2006/main">
            <a:r>
              <a:t>runs/m4_refinement_20261014_v2/grouped/summary.csv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原始数据与TSS定位分别引用Wang2020和Thomason2015，冻结DNA表征引用DNABERT-2，热力学模型引用LaFleur2022，Integrated Gradients引用Sundararajan2017。枯草杆菌CSV由课程教师提供，论文、测量单位、TSS和方向信息未附。</a:t>
            </a:r>
          </a:p>
          <a:p xmlns:a="http://schemas.openxmlformats.org/drawingml/2006/main">
            <a:r>
              <a:t>数据与方法依据：</a:t>
            </a:r>
          </a:p>
          <a:p xmlns:a="http://schemas.openxmlformats.org/drawingml/2006/main">
            <a:r>
              <a:t>Wang Y, Wang H, Wei L, Li S, Liu L, Wang X. Synthetic promoter design in Escherichia coli based on a deep generative network. Nucleic Acids Research. 2020;48(12):6403–6412.</a:t>
            </a:r>
          </a:p>
          <a:p xmlns:a="http://schemas.openxmlformats.org/drawingml/2006/main">
            <a:r>
              <a:t>https://doi.org/10.1093/nar/gkaa325</a:t>
            </a:r>
          </a:p>
          <a:p xmlns:a="http://schemas.openxmlformats.org/drawingml/2006/main">
            <a:r>
              <a:t>Thomason MK, Bischler T, Eisenbart SK, et al. Global transcriptional start site mapping using differential RNA sequencing reveals novel antisense RNAs in Escherichia coli. Journal of Bacteriology. 2015;197(1):18–28.</a:t>
            </a:r>
          </a:p>
          <a:p xmlns:a="http://schemas.openxmlformats.org/drawingml/2006/main">
            <a:r>
              <a:t>https://doi.org/10.1128/JB.02096-14</a:t>
            </a:r>
          </a:p>
          <a:p xmlns:a="http://schemas.openxmlformats.org/drawingml/2006/main">
            <a:r>
              <a:t>Zhou Z, Ji Y, Li W, Dutta P, Davuluri R, Liu H. DNABERT-2: Efficient Foundation Model and Benchmark for Multi-Species Genome. ICLR 2024.</a:t>
            </a:r>
          </a:p>
          <a:p xmlns:a="http://schemas.openxmlformats.org/drawingml/2006/main">
            <a:r>
              <a:t>https://arxiv.org/abs/2306.15006</a:t>
            </a:r>
          </a:p>
          <a:p xmlns:a="http://schemas.openxmlformats.org/drawingml/2006/main">
            <a:r>
              <a:t>LaFleur TL, Hossain A, Salis HM. Automated model-predictive design of synthetic promoters to control transcriptional profiles in bacteria. Nature Communications. 2022;13:5159.</a:t>
            </a:r>
          </a:p>
          <a:p xmlns:a="http://schemas.openxmlformats.org/drawingml/2006/main">
            <a:r>
              <a:t>https://doi.org/10.1038/s41467-022-32829-5</a:t>
            </a:r>
          </a:p>
          <a:p xmlns:a="http://schemas.openxmlformats.org/drawingml/2006/main">
            <a:r>
              <a:t>Sundararajan M, Taly A, Yan Q. Axiomatic Attribution for Deep Networks. Proceedings of Machine Learning Research. 2017;70:3319–3328.</a:t>
            </a:r>
          </a:p>
          <a:p xmlns:a="http://schemas.openxmlformats.org/drawingml/2006/main">
            <a:r>
              <a:t>https://proceedings.mlr.press/v70/sundararajan17a.html</a:t>
            </a:r>
          </a:p>
          <a:p xmlns:a="http://schemas.openxmlformats.org/drawingml/2006/main">
            <a:r>
              <a:t>HaochenW. Deep_promoter 源数据与代码仓库.</a:t>
            </a:r>
          </a:p>
          <a:p xmlns:a="http://schemas.openxmlformats.org/drawingml/2006/main">
            <a:r>
              <a:t>https://github.com/HaochenW/Deep_promoter</a:t>
            </a:r>
          </a:p>
          <a:p xmlns:a="http://schemas.openxmlformats.org/drawingml/2006/main">
            <a:r>
              <a:t>PR02-01 项目代码与实验记录.</a:t>
            </a:r>
          </a:p>
          <a:p xmlns:a="http://schemas.openxmlformats.org/drawingml/2006/main">
            <a:r>
              <a:t>https://github.com/Azusakada/PR02-01-promoter--insight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cb6e7e2d6541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466a2edcaf43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ef0f8ab65d44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5e8c9b67354e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24d6870ad47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e8f92f97bd45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553EC6-AD6A-4E56-9400-2FA0876192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2B3CA8-0734-4701-81D7-667B2411FB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F1F15C3-1027-4CC8-84A8-6B38EE9750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8B9531-CFA3-4192-B488-1E6FD64A8C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D4B9FF8-5C24-410F-B175-9913B1CA9D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D8513D-899F-4F0D-9820-2CA37AF16A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5BF202-A77B-4A06-98EA-09ADD58419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7B94911-90D9-4AD7-B3BC-C51954E70A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DA717F-9138-4DD2-B0DF-E1B1AF677F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C9D4AB-6529-48CC-99AA-BF57A31693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7a29fdfd864ee2" /><Relationship Type="http://schemas.openxmlformats.org/officeDocument/2006/relationships/slideLayout" Target="/ppt/slideLayouts/slideLayout1.xml" Id="Ref7a28ceba57477a" /><Relationship Type="http://schemas.openxmlformats.org/officeDocument/2006/relationships/slideLayout" Target="/ppt/slideLayouts/slideLayout2.xml" Id="R66ccc477d20b4af9" /><Relationship Type="http://schemas.openxmlformats.org/officeDocument/2006/relationships/slideLayout" Target="/ppt/slideLayouts/slideLayout3.xml" Id="Rcf67605fcd77489d" /><Relationship Type="http://schemas.openxmlformats.org/officeDocument/2006/relationships/slideLayout" Target="/ppt/slideLayouts/slideLayout4.xml" Id="Rf17c9f8ca9bb4c0d" /><Relationship Type="http://schemas.openxmlformats.org/officeDocument/2006/relationships/slideLayout" Target="/ppt/slideLayouts/slideLayout5.xml" Id="Reba94bc875b9497e" /><Relationship Type="http://schemas.openxmlformats.org/officeDocument/2006/relationships/slideLayout" Target="/ppt/slideLayouts/slideLayout6.xml" Id="Rf61d396239804d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7a28ceba57477a"/>
    <p:sldLayoutId xmlns:r="http://schemas.openxmlformats.org/officeDocument/2006/relationships" id="2147483650" r:id="R66ccc477d20b4af9"/>
    <p:sldLayoutId xmlns:r="http://schemas.openxmlformats.org/officeDocument/2006/relationships" id="2147483651" r:id="Rcf67605fcd77489d"/>
    <p:sldLayoutId xmlns:r="http://schemas.openxmlformats.org/officeDocument/2006/relationships" id="2147483652" r:id="Rf17c9f8ca9bb4c0d"/>
    <p:sldLayoutId xmlns:r="http://schemas.openxmlformats.org/officeDocument/2006/relationships" id="2147483653" r:id="Reba94bc875b9497e"/>
    <p:sldLayoutId xmlns:r="http://schemas.openxmlformats.org/officeDocument/2006/relationships" id="2147483654" r:id="Rf61d396239804d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a15cd0c2d846f0" /><Relationship Type="http://schemas.openxmlformats.org/officeDocument/2006/relationships/notesSlide" Target="/ppt/notesSlides/notesSlide1.xml" Id="Rfc57f6d9d8d243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ddab11512d46db" /><Relationship Type="http://schemas.openxmlformats.org/officeDocument/2006/relationships/notesSlide" Target="/ppt/notesSlides/notesSlide2.xml" Id="Rb87b9e00166644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4da3d7b774eca" /><Relationship Type="http://schemas.openxmlformats.org/officeDocument/2006/relationships/notesSlide" Target="/ppt/notesSlides/notesSlide3.xml" Id="R3caf00e915cb48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bf2012d17146c8" /><Relationship Type="http://schemas.openxmlformats.org/officeDocument/2006/relationships/notesSlide" Target="/ppt/notesSlides/notesSlide4.xml" Id="R91aa6c277cd94f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fc2f643ffe4fba" /><Relationship Type="http://schemas.openxmlformats.org/officeDocument/2006/relationships/chart" Target="/ppt/slides/charts/chart1.xml" Id="R33e21985fcd643fa" /><Relationship Type="http://schemas.openxmlformats.org/officeDocument/2006/relationships/notesSlide" Target="/ppt/notesSlides/notesSlide5.xml" Id="R37a4864e81c542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01b39b6d9141f3" /><Relationship Type="http://schemas.openxmlformats.org/officeDocument/2006/relationships/notesSlide" Target="/ppt/notesSlides/notesSlide6.xml" Id="Rf03a9306386145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9d3bfcc6b14435" /><Relationship Type="http://schemas.openxmlformats.org/officeDocument/2006/relationships/chart" Target="/ppt/slides/charts/chart2.xml" Id="Rfffc93c2952246f4" /><Relationship Type="http://schemas.openxmlformats.org/officeDocument/2006/relationships/notesSlide" Target="/ppt/notesSlides/notesSlide7.xml" Id="Re2249ebc03ed44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c2d2e1bda14d91" /><Relationship Type="http://schemas.openxmlformats.org/officeDocument/2006/relationships/chart" Target="/ppt/slides/charts/chart3.xml" Id="Rabb4b95e10684d9e" /><Relationship Type="http://schemas.openxmlformats.org/officeDocument/2006/relationships/notesSlide" Target="/ppt/notesSlides/notesSlide8.xml" Id="Racf3633f5f264f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244e24712546fe" /><Relationship Type="http://schemas.openxmlformats.org/officeDocument/2006/relationships/chart" Target="/ppt/slides/charts/chart4.xml" Id="R7a0a7ffde70f4f70" /><Relationship Type="http://schemas.openxmlformats.org/officeDocument/2006/relationships/notesSlide" Target="/ppt/notesSlides/notesSlide9.xml" Id="R8681249ab8c343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d2ba520648465a" /><Relationship Type="http://schemas.openxmlformats.org/officeDocument/2006/relationships/chart" Target="/ppt/slides/charts/chart5.xml" Id="R9465ae4b3603480d" /><Relationship Type="http://schemas.openxmlformats.org/officeDocument/2006/relationships/chart" Target="/ppt/slides/charts/chart6.xml" Id="R4143db93507444e0" /><Relationship Type="http://schemas.openxmlformats.org/officeDocument/2006/relationships/notesSlide" Target="/ppt/notesSlides/notesSlide10.xml" Id="Re85d6e9f80d747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bb4ab22b0e4e95" /><Relationship Type="http://schemas.openxmlformats.org/officeDocument/2006/relationships/chart" Target="/ppt/slides/charts/chart7.xml" Id="Rad4e8902a35e4bd9" /><Relationship Type="http://schemas.openxmlformats.org/officeDocument/2006/relationships/notesSlide" Target="/ppt/notesSlides/notesSlide11.xml" Id="R02d179be4d8945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3b30a980e243af" /><Relationship Type="http://schemas.openxmlformats.org/officeDocument/2006/relationships/chart" Target="/ppt/slides/charts/chart8.xml" Id="R0357ef5af6db4bd0" /><Relationship Type="http://schemas.openxmlformats.org/officeDocument/2006/relationships/notesSlide" Target="/ppt/notesSlides/notesSlide12.xml" Id="R33d1adf3a7224f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a725e411a4c90" /><Relationship Type="http://schemas.openxmlformats.org/officeDocument/2006/relationships/chart" Target="/ppt/slides/charts/chart9.xml" Id="R35c4db0ddf904d76" /><Relationship Type="http://schemas.openxmlformats.org/officeDocument/2006/relationships/notesSlide" Target="/ppt/notesSlides/notesSlide13.xml" Id="Rcfd838ea44a54a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5ebcad4fa546a5" /><Relationship Type="http://schemas.openxmlformats.org/officeDocument/2006/relationships/chart" Target="/ppt/slides/charts/chart10.xml" Id="Re787871d786d4bf0" /><Relationship Type="http://schemas.openxmlformats.org/officeDocument/2006/relationships/notesSlide" Target="/ppt/notesSlides/notesSlide14.xml" Id="R4189aae00e0441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3ee5b0a0a64584" /><Relationship Type="http://schemas.openxmlformats.org/officeDocument/2006/relationships/notesSlide" Target="/ppt/notesSlides/notesSlide15.xml" Id="Rc6335038d68841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615d2e16c04caf" /><Relationship Type="http://schemas.openxmlformats.org/officeDocument/2006/relationships/notesSlide" Target="/ppt/notesSlides/notesSlide16.xml" Id="R4c6e80bd6a814d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814f2287104c11" /><Relationship Type="http://schemas.openxmlformats.org/officeDocument/2006/relationships/notesSlide" Target="/ppt/notesSlides/notesSlide17.xml" Id="R2b17ba0c08e54ac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ca8394e50c4c53" /><Relationship Type="http://schemas.openxmlformats.org/officeDocument/2006/relationships/notesSlide" Target="/ppt/notesSlides/notesSlide18.xml" Id="R704e5ec512e94b6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8e8fc71d8d438d" /><Relationship Type="http://schemas.openxmlformats.org/officeDocument/2006/relationships/notesSlide" Target="/ppt/notesSlides/notesSlide19.xml" Id="R0495296bb7584ea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训练序列数</c:v>
          </c:tx>
          <c:spPr>
            <a:solidFill xmlns:a="http://schemas.openxmlformats.org/drawingml/2006/main">
              <a:srgbClr val="285B70"/>
            </a:solidFill>
            <a:ln xmlns:a="http://schemas.openxmlformats.org/drawingml/2006/main" w="28575">
              <a:solidFill>
                <a:srgbClr val="285B70"/>
              </a:solidFill>
            </a:ln>
          </c:spPr>
          <c:invertIfNegative val="0"/>
          <c:cat>
            <c:numRef>
              <c:f>'Chart Data'!$A$2:$A$13</c:f>
              <c:numCache>
                <c:formatCode>General</c:formatCode>
                <c:ptCount val="12"/>
                <c:pt idx="0">
                  <c:v>0.75</c:v>
                </c:pt>
                <c:pt idx="1">
                  <c:v>1.25</c:v>
                </c:pt>
                <c:pt idx="2">
                  <c:v>1.75</c:v>
                </c:pt>
                <c:pt idx="3">
                  <c:v>2.25</c:v>
                </c:pt>
                <c:pt idx="4">
                  <c:v>2.75</c:v>
                </c:pt>
                <c:pt idx="5">
                  <c:v>3.25</c:v>
                </c:pt>
                <c:pt idx="6">
                  <c:v>3.75</c:v>
                </c:pt>
                <c:pt idx="7">
                  <c:v>4.25</c:v>
                </c:pt>
                <c:pt idx="8">
                  <c:v>4.75</c:v>
                </c:pt>
                <c:pt idx="9">
                  <c:v>5.25</c:v>
                </c:pt>
                <c:pt idx="10">
                  <c:v>5.75</c:v>
                </c:pt>
                <c:pt idx="11">
                  <c:v>6.25</c:v>
                </c:pt>
              </c:numCache>
            </c:num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2</c:v>
                </c:pt>
                <c:pt idx="1">
                  <c:v>301</c:v>
                </c:pt>
                <c:pt idx="2">
                  <c:v>2924</c:v>
                </c:pt>
                <c:pt idx="3">
                  <c:v>2781</c:v>
                </c:pt>
                <c:pt idx="4">
                  <c:v>1198</c:v>
                </c:pt>
                <c:pt idx="5">
                  <c:v>651</c:v>
                </c:pt>
                <c:pt idx="6">
                  <c:v>223</c:v>
                </c:pt>
                <c:pt idx="7">
                  <c:v>119</c:v>
                </c:pt>
                <c:pt idx="8">
                  <c:v>51</c:v>
                </c:pt>
                <c:pt idx="9">
                  <c:v>12</c:v>
                </c:pt>
                <c:pt idx="10">
                  <c:v>5</c:v>
                </c:pt>
                <c:pt idx="11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ans CN"/>
                  <a:ea typeface="Source Han Sans CN"/>
                  <a:cs typeface="Source Han Sans C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AAB8C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D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Source Han Sans CN"/>
                    <a:ea typeface="Source Han Sans CN"/>
                    <a:cs typeface="Source Han Sans CN"/>
                  </a:rPr>
                  <a:t>序列数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Source Han Sans CN"/>
                  <a:ea typeface="Source Han Sans CN"/>
                  <a:cs typeface="Source Han Sans C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验证R²</c:v>
          </c:tx>
          <c:spPr>
            <a:solidFill xmlns:a="http://schemas.openxmlformats.org/drawingml/2006/main">
              <a:srgbClr val="285B70"/>
            </a:solidFill>
            <a:ln xmlns:a="http://schemas.openxmlformats.org/drawingml/2006/main" w="28575">
              <a:solidFill>
                <a:srgbClr val="285B70"/>
              </a:solidFill>
            </a:ln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85B7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85B7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85B70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85B70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C37C3A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247F81"/>
              </a:solidFill>
            </c:spPr>
          </c:dPt>
          <c:cat>
            <c:strRef>
              <c:f>'Chart Data'!$A$2:$A$7</c:f>
              <c:strCache>
                <c:ptCount val="6"/>
                <c:pt idx="0">
                  <c:v>KNN</c:v>
                </c:pt>
                <c:pt idx="1">
                  <c:v>Ridge</c:v>
                </c:pt>
                <c:pt idx="2">
                  <c:v>SVR</c:v>
                </c:pt>
                <c:pt idx="3">
                  <c:v>DNA</c:v>
                </c:pt>
                <c:pt idx="4">
                  <c:v>热力学</c:v>
                </c:pt>
                <c:pt idx="5">
                  <c:v>CNN</c:v>
                </c:pt>
              </c:strCache>
            </c:str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0.0519081376</c:v>
                </c:pt>
                <c:pt idx="1">
                  <c:v>0.0841507468</c:v>
                </c:pt>
                <c:pt idx="2">
                  <c:v>0.0704925703</c:v>
                </c:pt>
                <c:pt idx="3">
                  <c:v>0.0658803665</c:v>
                </c:pt>
                <c:pt idx="4">
                  <c:v>0.0136490257</c:v>
                </c:pt>
                <c:pt idx="5">
                  <c:v>0.1159670105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F3B"/>
                  </a:solidFill>
                  <a:latin typeface="Source Han Sans CN"/>
                  <a:ea typeface="Source Han Sans CN"/>
                  <a:cs typeface="Source Han Sans C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AAB8C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72768"/>
      </c:catAx>
      <c:valAx>
        <c:axId val="48672768"/>
        <c:scaling>
          <c:orientation val="minMax"/>
          <c:max val="0.14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D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Source Han Sans CN"/>
                    <a:ea typeface="Source Han Sans CN"/>
                    <a:cs typeface="Source Han Sans CN"/>
                  </a:rPr>
                  <a:t>R²，log10尺度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Source Han Sans CN"/>
                  <a:ea typeface="Source Han Sans CN"/>
                  <a:cs typeface="Source Han Sans CN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原alpha范围</c:v>
          </c:tx>
          <c:spPr>
            <a:solidFill xmlns:a="http://schemas.openxmlformats.org/drawingml/2006/main">
              <a:srgbClr val="AAB8C1"/>
            </a:solidFill>
            <a:ln xmlns:a="http://schemas.openxmlformats.org/drawingml/2006/main" w="28575">
              <a:solidFill>
                <a:srgbClr val="AAB8C1"/>
              </a:solidFill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A0</c:v>
                </c:pt>
                <c:pt idx="1">
                  <c:v>A1</c:v>
                </c:pt>
                <c:pt idx="2">
                  <c:v>A2</c:v>
                </c:pt>
                <c:pt idx="3">
                  <c:v>A3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0.0727115551</c:v>
                </c:pt>
                <c:pt idx="1">
                  <c:v>0.0417938766</c:v>
                </c:pt>
                <c:pt idx="2">
                  <c:v>-0.0214702094</c:v>
                </c:pt>
                <c:pt idx="3">
                  <c:v>-0.0272589904</c:v>
                </c:pt>
              </c:numCache>
            </c:numRef>
          </c:val>
        </c:ser>
        <c:ser>
          <c:idx val="1"/>
          <c:order val="1"/>
          <c:tx>
            <c:v>扩展alpha范围</c:v>
          </c:tx>
          <c:spPr>
            <a:solidFill xmlns:a="http://schemas.openxmlformats.org/drawingml/2006/main">
              <a:srgbClr val="247F81"/>
            </a:solidFill>
            <a:ln xmlns:a="http://schemas.openxmlformats.org/drawingml/2006/main" w="28575">
              <a:solidFill>
                <a:srgbClr val="247F81"/>
              </a:solidFill>
            </a:ln>
          </c:spPr>
          <c:invertIfNegative val="0"/>
          <c:cat>
            <c:strRef>
              <c:f>'Chart Data'!$C$2:$C$5</c:f>
              <c:strCache>
                <c:ptCount val="4"/>
                <c:pt idx="0">
                  <c:v>A0</c:v>
                </c:pt>
                <c:pt idx="1">
                  <c:v>A1</c:v>
                </c:pt>
                <c:pt idx="2">
                  <c:v>A2</c:v>
                </c:pt>
                <c:pt idx="3">
                  <c:v>A3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0.0841507468</c:v>
                </c:pt>
                <c:pt idx="1">
                  <c:v>0.1173948537</c:v>
                </c:pt>
                <c:pt idx="2">
                  <c:v>0.10996597</c:v>
                </c:pt>
                <c:pt idx="3">
                  <c:v>0.1144340848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ans CN"/>
                  <a:ea typeface="Source Han Sans CN"/>
                  <a:cs typeface="Source Han Sans C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AAB8C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72768"/>
      </c:catAx>
      <c:valAx>
        <c:axId val="48672768"/>
        <c:scaling>
          <c:orientation val="minMax"/>
          <c:max val="0.15"/>
          <c:min val="-0.05"/>
        </c:scaling>
        <c:delete val="0"/>
        <c:axPos val="l"/>
        <c:majorGridlines>
          <c:spPr>
            <a:ln xmlns:a="http://schemas.openxmlformats.org/drawingml/2006/main" w="6668">
              <a:solidFill>
                <a:srgbClr val="DD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Source Han Sans CN"/>
                    <a:ea typeface="Source Han Sans CN"/>
                    <a:cs typeface="Source Han Sans CN"/>
                  </a:rPr>
                  <a:t>验证R²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Source Han Sans CN"/>
                  <a:ea typeface="Source Han Sans CN"/>
                  <a:cs typeface="Source Han Sans CN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Source Han Sans CN"/>
              <a:ea typeface="Source Han Sans CN"/>
              <a:cs typeface="Source Han Sans C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区域分组R²</c:v>
          </c:tx>
          <c:spPr>
            <a:solidFill xmlns:a="http://schemas.openxmlformats.org/drawingml/2006/main">
              <a:srgbClr val="285B70"/>
            </a:solidFill>
            <a:ln xmlns:a="http://schemas.openxmlformats.org/drawingml/2006/main" w="28575">
              <a:solidFill>
                <a:srgbClr val="285B70"/>
              </a:solidFill>
            </a:ln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85B7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85B7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85B70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47F81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85B70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285B70"/>
              </a:solidFill>
            </c:spPr>
          </c:dPt>
          <c:cat>
            <c:strRef>
              <c:f>'Chart Data'!$A$2:$A$7</c:f>
              <c:strCache>
                <c:ptCount val="6"/>
                <c:pt idx="0">
                  <c:v>Ridge</c:v>
                </c:pt>
                <c:pt idx="1">
                  <c:v>DNA</c:v>
                </c:pt>
                <c:pt idx="2">
                  <c:v>CNN</c:v>
                </c:pt>
                <c:pt idx="3">
                  <c:v>A1</c:v>
                </c:pt>
                <c:pt idx="4">
                  <c:v>A2</c:v>
                </c:pt>
                <c:pt idx="5">
                  <c:v>A3</c:v>
                </c:pt>
              </c:strCache>
            </c:str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0.0868158785</c:v>
                </c:pt>
                <c:pt idx="1">
                  <c:v>0.0713374777</c:v>
                </c:pt>
                <c:pt idx="2">
                  <c:v>0.0992704888</c:v>
                </c:pt>
                <c:pt idx="3">
                  <c:v>0.1162414398</c:v>
                </c:pt>
                <c:pt idx="4">
                  <c:v>0.1073135869</c:v>
                </c:pt>
                <c:pt idx="5">
                  <c:v>0.1129862293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F3B"/>
                  </a:solidFill>
                  <a:latin typeface="Source Han Sans CN"/>
                  <a:ea typeface="Source Han Sans CN"/>
                  <a:cs typeface="Source Han Sans C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AAB8C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72768"/>
      </c:catAx>
      <c:valAx>
        <c:axId val="48672768"/>
        <c:scaling>
          <c:orientation val="minMax"/>
          <c:max val="0.14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D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Source Han Sans CN"/>
                    <a:ea typeface="Source Han Sans CN"/>
                    <a:cs typeface="Source Han Sans CN"/>
                  </a:rPr>
                  <a:t>evaluation R²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Source Han Sans CN"/>
                  <a:ea typeface="Source Han Sans CN"/>
                  <a:cs typeface="Source Han Sans CN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20260928</c:v>
          </c:tx>
          <c:spPr>
            <a:solidFill xmlns:a="http://schemas.openxmlformats.org/drawingml/2006/main">
              <a:srgbClr val="285B70"/>
            </a:solidFill>
            <a:ln xmlns:a="http://schemas.openxmlformats.org/drawingml/2006/main" w="28575">
              <a:solidFill>
                <a:srgbClr val="285B70"/>
              </a:solidFill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UP</c:v>
                </c:pt>
                <c:pt idx="1">
                  <c:v>-35</c:v>
                </c:pt>
                <c:pt idx="2">
                  <c:v>spacer</c:v>
                </c:pt>
                <c:pt idx="3">
                  <c:v>-10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-0.122737069</c:v>
                </c:pt>
                <c:pt idx="1">
                  <c:v>-0.0127155172</c:v>
                </c:pt>
                <c:pt idx="2">
                  <c:v>-0.1079022989</c:v>
                </c:pt>
                <c:pt idx="3">
                  <c:v>0.0622844828</c:v>
                </c:pt>
              </c:numCache>
            </c:numRef>
          </c:val>
        </c:ser>
        <c:ser>
          <c:idx val="1"/>
          <c:order val="1"/>
          <c:tx>
            <c:v>20260929</c:v>
          </c:tx>
          <c:spPr>
            <a:solidFill xmlns:a="http://schemas.openxmlformats.org/drawingml/2006/main">
              <a:srgbClr val="C37C3A"/>
            </a:solidFill>
            <a:ln xmlns:a="http://schemas.openxmlformats.org/drawingml/2006/main" w="28575">
              <a:solidFill>
                <a:srgbClr val="C37C3A"/>
              </a:solidFill>
            </a:ln>
          </c:spPr>
          <c:invertIfNegative val="0"/>
          <c:cat>
            <c:strRef>
              <c:f>'Chart Data'!$C$2:$C$5</c:f>
              <c:strCache>
                <c:ptCount val="4"/>
                <c:pt idx="0">
                  <c:v>UP</c:v>
                </c:pt>
                <c:pt idx="1">
                  <c:v>-35</c:v>
                </c:pt>
                <c:pt idx="2">
                  <c:v>spacer</c:v>
                </c:pt>
                <c:pt idx="3">
                  <c:v>-10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-0.175862069</c:v>
                </c:pt>
                <c:pt idx="1">
                  <c:v>-0.0158405172</c:v>
                </c:pt>
                <c:pt idx="2">
                  <c:v>-0.1172772989</c:v>
                </c:pt>
                <c:pt idx="3">
                  <c:v>0.1685344828</c:v>
                </c:pt>
              </c:numCache>
            </c:numRef>
          </c:val>
        </c:ser>
        <c:ser>
          <c:idx val="2"/>
          <c:order val="2"/>
          <c:tx>
            <c:v>20260930</c:v>
          </c:tx>
          <c:spPr>
            <a:solidFill xmlns:a="http://schemas.openxmlformats.org/drawingml/2006/main">
              <a:srgbClr val="247F81"/>
            </a:solidFill>
            <a:ln xmlns:a="http://schemas.openxmlformats.org/drawingml/2006/main" w="28575">
              <a:solidFill>
                <a:srgbClr val="247F81"/>
              </a:solidFill>
            </a:ln>
          </c:spPr>
          <c:invertIfNegative val="0"/>
          <c:cat>
            <c:strRef>
              <c:f>'Chart Data'!$E$2:$E$5</c:f>
              <c:strCache>
                <c:ptCount val="4"/>
                <c:pt idx="0">
                  <c:v>UP</c:v>
                </c:pt>
                <c:pt idx="1">
                  <c:v>-35</c:v>
                </c:pt>
                <c:pt idx="2">
                  <c:v>spacer</c:v>
                </c:pt>
                <c:pt idx="3">
                  <c:v>-10</c:v>
                </c:pt>
              </c:strCache>
            </c:strRef>
          </c:cat>
          <c:val>
            <c:numRef>
              <c:f>'Chart Data'!$F$2:$F$5</c:f>
              <c:numCache>
                <c:formatCode>0.00</c:formatCode>
                <c:ptCount val="4"/>
                <c:pt idx="0">
                  <c:v>-0.116487069</c:v>
                </c:pt>
                <c:pt idx="1">
                  <c:v>-0.0189655172</c:v>
                </c:pt>
                <c:pt idx="2">
                  <c:v>-0.1204022989</c:v>
                </c:pt>
                <c:pt idx="3">
                  <c:v>0.1404094828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ans CN"/>
                  <a:ea typeface="Source Han Sans CN"/>
                  <a:cs typeface="Source Han Sans C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AAB8C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-0.2"/>
        </c:scaling>
        <c:delete val="0"/>
        <c:axPos val="l"/>
        <c:majorGridlines>
          <c:spPr>
            <a:ln xmlns:a="http://schemas.openxmlformats.org/drawingml/2006/main" w="6668">
              <a:solidFill>
                <a:srgbClr val="DDE5E9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Source Han Sans CN"/>
              <a:ea typeface="Source Han Sans CN"/>
              <a:cs typeface="Source Han Sans C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20260928</c:v>
          </c:tx>
          <c:spPr>
            <a:solidFill xmlns:a="http://schemas.openxmlformats.org/drawingml/2006/main">
              <a:srgbClr val="285B70"/>
            </a:solidFill>
            <a:ln xmlns:a="http://schemas.openxmlformats.org/drawingml/2006/main" w="28575">
              <a:solidFill>
                <a:srgbClr val="285B70"/>
              </a:solidFill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UP</c:v>
                </c:pt>
                <c:pt idx="1">
                  <c:v>-35</c:v>
                </c:pt>
                <c:pt idx="2">
                  <c:v>spacer</c:v>
                </c:pt>
                <c:pt idx="3">
                  <c:v>-10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-0.082112069</c:v>
                </c:pt>
                <c:pt idx="1">
                  <c:v>-0.0408405172</c:v>
                </c:pt>
                <c:pt idx="2">
                  <c:v>-0.0891522989</c:v>
                </c:pt>
                <c:pt idx="3">
                  <c:v>0.1185344828</c:v>
                </c:pt>
              </c:numCache>
            </c:numRef>
          </c:val>
        </c:ser>
        <c:ser>
          <c:idx val="1"/>
          <c:order val="1"/>
          <c:tx>
            <c:v>20260929</c:v>
          </c:tx>
          <c:spPr>
            <a:solidFill xmlns:a="http://schemas.openxmlformats.org/drawingml/2006/main">
              <a:srgbClr val="C37C3A"/>
            </a:solidFill>
            <a:ln xmlns:a="http://schemas.openxmlformats.org/drawingml/2006/main" w="28575">
              <a:solidFill>
                <a:srgbClr val="C37C3A"/>
              </a:solidFill>
            </a:ln>
          </c:spPr>
          <c:invertIfNegative val="0"/>
          <c:cat>
            <c:strRef>
              <c:f>'Chart Data'!$C$2:$C$5</c:f>
              <c:strCache>
                <c:ptCount val="4"/>
                <c:pt idx="0">
                  <c:v>UP</c:v>
                </c:pt>
                <c:pt idx="1">
                  <c:v>-35</c:v>
                </c:pt>
                <c:pt idx="2">
                  <c:v>spacer</c:v>
                </c:pt>
                <c:pt idx="3">
                  <c:v>-10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-0.178987069</c:v>
                </c:pt>
                <c:pt idx="1">
                  <c:v>-0.0252155172</c:v>
                </c:pt>
                <c:pt idx="2">
                  <c:v>-0.0579022989</c:v>
                </c:pt>
                <c:pt idx="3">
                  <c:v>0.1747844828</c:v>
                </c:pt>
              </c:numCache>
            </c:numRef>
          </c:val>
        </c:ser>
        <c:ser>
          <c:idx val="2"/>
          <c:order val="2"/>
          <c:tx>
            <c:v>20260930</c:v>
          </c:tx>
          <c:spPr>
            <a:solidFill xmlns:a="http://schemas.openxmlformats.org/drawingml/2006/main">
              <a:srgbClr val="247F81"/>
            </a:solidFill>
            <a:ln xmlns:a="http://schemas.openxmlformats.org/drawingml/2006/main" w="28575">
              <a:solidFill>
                <a:srgbClr val="247F81"/>
              </a:solidFill>
            </a:ln>
          </c:spPr>
          <c:invertIfNegative val="0"/>
          <c:cat>
            <c:strRef>
              <c:f>'Chart Data'!$E$2:$E$5</c:f>
              <c:strCache>
                <c:ptCount val="4"/>
                <c:pt idx="0">
                  <c:v>UP</c:v>
                </c:pt>
                <c:pt idx="1">
                  <c:v>-35</c:v>
                </c:pt>
                <c:pt idx="2">
                  <c:v>spacer</c:v>
                </c:pt>
                <c:pt idx="3">
                  <c:v>-10</c:v>
                </c:pt>
              </c:strCache>
            </c:strRef>
          </c:cat>
          <c:val>
            <c:numRef>
              <c:f>'Chart Data'!$F$2:$F$5</c:f>
              <c:numCache>
                <c:formatCode>0.00</c:formatCode>
                <c:ptCount val="4"/>
                <c:pt idx="0">
                  <c:v>-0.088362069</c:v>
                </c:pt>
                <c:pt idx="1">
                  <c:v>0.0091594828</c:v>
                </c:pt>
                <c:pt idx="2">
                  <c:v>-0.0454022989</c:v>
                </c:pt>
                <c:pt idx="3">
                  <c:v>0.2122844828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ans CN"/>
                  <a:ea typeface="Source Han Sans CN"/>
                  <a:cs typeface="Source Han Sans C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AAB8C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-0.2"/>
        </c:scaling>
        <c:delete val="0"/>
        <c:axPos val="l"/>
        <c:majorGridlines>
          <c:spPr>
            <a:ln xmlns:a="http://schemas.openxmlformats.org/drawingml/2006/main" w="6668">
              <a:solidFill>
                <a:srgbClr val="DDE5E9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Source Han Sans CN"/>
              <a:ea typeface="Source Han Sans CN"/>
              <a:cs typeface="Source Han Sans C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Top-5 Jaccard</c:v>
          </c:tx>
          <c:spPr>
            <a:solidFill xmlns:a="http://schemas.openxmlformats.org/drawingml/2006/main">
              <a:srgbClr val="285B70"/>
            </a:solidFill>
            <a:ln xmlns:a="http://schemas.openxmlformats.org/drawingml/2006/main" w="28575">
              <a:solidFill>
                <a:srgbClr val="285B70"/>
              </a:solidFill>
            </a:ln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85B7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37C3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47F81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同一模型
IG与ISM</c:v>
                </c:pt>
                <c:pt idx="1">
                  <c:v>跨种子
IG</c:v>
                </c:pt>
                <c:pt idx="2">
                  <c:v>跨种子
ISM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0.3676835317</c:v>
                </c:pt>
                <c:pt idx="1">
                  <c:v>0.2023809524</c:v>
                </c:pt>
                <c:pt idx="2">
                  <c:v>0.2522114749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F3B"/>
                  </a:solidFill>
                  <a:latin typeface="Source Han Sans CN"/>
                  <a:ea typeface="Source Han Sans CN"/>
                  <a:cs typeface="Source Han Sans C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AAB8C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D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Source Han Sans CN"/>
                    <a:ea typeface="Source Han Sans CN"/>
                    <a:cs typeface="Source Han Sans CN"/>
                  </a:rPr>
                  <a:t>Top-5集合Jaccard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Source Han Sans CN"/>
                  <a:ea typeface="Source Han Sans CN"/>
                  <a:cs typeface="Source Han Sans CN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平均绝对变化</c:v>
          </c:tx>
          <c:spPr>
            <a:solidFill xmlns:a="http://schemas.openxmlformats.org/drawingml/2006/main">
              <a:srgbClr val="285B70"/>
            </a:solidFill>
            <a:ln xmlns:a="http://schemas.openxmlformats.org/drawingml/2006/main" w="28575">
              <a:solidFill>
                <a:srgbClr val="285B70"/>
              </a:solidFill>
            </a:ln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7F8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AB8C1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85B70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Random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0.1270188209</c:v>
                </c:pt>
                <c:pt idx="1">
                  <c:v>0.0475570884</c:v>
                </c:pt>
                <c:pt idx="2">
                  <c:v>0.0670670465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F3B"/>
                  </a:solidFill>
                  <a:latin typeface="Source Han Sans CN"/>
                  <a:ea typeface="Source Han Sans CN"/>
                  <a:cs typeface="Source Han Sans C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AAB8C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72768"/>
      </c:catAx>
      <c:valAx>
        <c:axId val="48672768"/>
        <c:scaling>
          <c:orientation val="minMax"/>
          <c:max val="0.17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D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Source Han Sans CN"/>
                    <a:ea typeface="Source Han Sans CN"/>
                    <a:cs typeface="Source Han Sans CN"/>
                  </a:rPr>
                  <a:t>|预测变化|，log10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Source Han Sans CN"/>
                  <a:ea typeface="Source Han Sans CN"/>
                  <a:cs typeface="Source Han Sans CN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方向一致率</c:v>
          </c:tx>
          <c:spPr>
            <a:solidFill xmlns:a="http://schemas.openxmlformats.org/drawingml/2006/main">
              <a:srgbClr val="285B70"/>
            </a:solidFill>
            <a:ln xmlns:a="http://schemas.openxmlformats.org/drawingml/2006/main" w="28575">
              <a:solidFill>
                <a:srgbClr val="285B70"/>
              </a:solidFill>
            </a:ln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7F8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AB8C1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37C3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梯度与CNN</c:v>
                </c:pt>
                <c:pt idx="1">
                  <c:v>梯度与热力学</c:v>
                </c:pt>
                <c:pt idx="2">
                  <c:v>CNN与热力学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0.9822916667</c:v>
                </c:pt>
                <c:pt idx="1">
                  <c:v>0.4447916667</c:v>
                </c:pt>
                <c:pt idx="2">
                  <c:v>0.4427083333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F3B"/>
                  </a:solidFill>
                  <a:latin typeface="Source Han Sans CN"/>
                  <a:ea typeface="Source Han Sans CN"/>
                  <a:cs typeface="Source Han Sans C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AAB8C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72768"/>
      </c:catAx>
      <c:valAx>
        <c:axId val="48672768"/>
        <c:scaling>
          <c:orientation val="minMax"/>
          <c:max val="1.12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DE5E9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k-mer few-shot</c:v>
          </c:tx>
          <c:spPr>
            <a:solidFill xmlns:a="http://schemas.openxmlformats.org/drawingml/2006/main">
              <a:srgbClr val="285B70"/>
            </a:solidFill>
            <a:ln xmlns:a="http://schemas.openxmlformats.org/drawingml/2006/main" w="28575">
              <a:solidFill>
                <a:srgbClr val="285B70"/>
              </a:solidFill>
            </a:ln>
          </c:spPr>
          <c:marker>
            <c:symbol val="circle"/>
            <c:size val="7"/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20</c:v>
                </c:pt>
                <c:pt idx="1">
                  <c:v>50</c:v>
                </c:pt>
                <c:pt idx="2">
                  <c:v>100</c:v>
                </c:pt>
              </c:numCache>
            </c:num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0.0841333171</c:v>
                </c:pt>
                <c:pt idx="1">
                  <c:v>0.1481173626</c:v>
                </c:pt>
                <c:pt idx="2">
                  <c:v>0.1808646619</c:v>
                </c:pt>
              </c:numCache>
            </c:numRef>
          </c:val>
          <c:smooth val="0"/>
        </c:ser>
        <c:ser>
          <c:idx val="1"/>
          <c:order val="1"/>
          <c:tx>
            <c:v>CNN few-shot</c:v>
          </c:tx>
          <c:spPr>
            <a:solidFill xmlns:a="http://schemas.openxmlformats.org/drawingml/2006/main">
              <a:srgbClr val="247F81"/>
            </a:solidFill>
            <a:ln xmlns:a="http://schemas.openxmlformats.org/drawingml/2006/main" w="28575">
              <a:solidFill>
                <a:srgbClr val="247F81"/>
              </a:solidFill>
            </a:ln>
          </c:spPr>
          <c:marker>
            <c:symbol val="circle"/>
            <c:size val="7"/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20</c:v>
                </c:pt>
                <c:pt idx="1">
                  <c:v>50</c:v>
                </c:pt>
                <c:pt idx="2">
                  <c:v>100</c:v>
                </c:pt>
              </c:numCache>
            </c:num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0.0824342909</c:v>
                </c:pt>
                <c:pt idx="1">
                  <c:v>0.1804702394</c:v>
                </c:pt>
                <c:pt idx="2">
                  <c:v>0.2074735773</c:v>
                </c:pt>
              </c:numCache>
            </c:numRef>
          </c:val>
          <c:smooth val="0"/>
        </c:ser>
        <c:ser>
          <c:idx val="2"/>
          <c:order val="2"/>
          <c:tx>
            <c:v>CNN zero-shot</c:v>
          </c:tx>
          <c:spPr>
            <a:solidFill xmlns:a="http://schemas.openxmlformats.org/drawingml/2006/main">
              <a:srgbClr val="C37C3A"/>
            </a:solidFill>
            <a:ln xmlns:a="http://schemas.openxmlformats.org/drawingml/2006/main" w="19050">
              <a:solidFill>
                <a:srgbClr val="C37C3A"/>
              </a:solidFill>
              <a:prstDash val="dash"/>
            </a:ln>
          </c:spPr>
          <c:marker>
            <c:symbol val="circle"/>
            <c:size val="7"/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20</c:v>
                </c:pt>
                <c:pt idx="1">
                  <c:v>50</c:v>
                </c:pt>
                <c:pt idx="2">
                  <c:v>100</c:v>
                </c:pt>
              </c:numCache>
            </c:num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0.216092441</c:v>
                </c:pt>
                <c:pt idx="1">
                  <c:v>0.216092441</c:v>
                </c:pt>
                <c:pt idx="2">
                  <c:v>0.216092441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ans CN"/>
                  <a:ea typeface="Source Han Sans CN"/>
                  <a:cs typeface="Source Han Sans C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AAB8C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72768"/>
      </c:catAx>
      <c:valAx>
        <c:axId val="48672768"/>
        <c:scaling>
          <c:orientation val="minMax"/>
          <c:max val="0.3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D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Source Han Sans CN"/>
                    <a:ea typeface="Source Han Sans CN"/>
                    <a:cs typeface="Source Han Sans CN"/>
                  </a:rPr>
                  <a:t>目标test Spearman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Source Han Sans CN"/>
                  <a:ea typeface="Source Han Sans CN"/>
                  <a:cs typeface="Source Han Sans CN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Source Han Sans CN"/>
              <a:ea typeface="Source Han Sans CN"/>
              <a:cs typeface="Source Han Sans C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37C5E-F6CA-421F-B369-1009E7E8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4800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4800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启动子强度预测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4800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4800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与关键位点归因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97A78-ED50-4A58-B4D2-1E300705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0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PR02-01 项目答辩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E4BCE-753D-4F3A-A43C-6EC23101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672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胡昊铭  李宇飞  李玘航  田惠今  陈思远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1DFB2-BDB3-480F-888F-40C9867B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5307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2026年10月14日</a:t>
            </a:r>
          </a:p>
        </p:txBody>
      </p:sp>
    </p:spTree>
    <p:extLst>
      <p:ext uri="{BB962C8B-B14F-4D97-AF65-F5344CB8AC3E}">
        <p14:creationId xmlns:p14="http://schemas.microsoft.com/office/powerpoint/2010/main" val="19823257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777FA-27B6-4A4E-8BF1-46455179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研究问题与实验设计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E3C20-6B87-46C6-883B-D2AEF8A7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主任务为强度预测与位点解释，选做跨物种迁移和多方法归因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7A624-25A3-420C-91A0-79546AD1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7CA4A-8C80-4484-BE71-48BA72C4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285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RQ1  预测性能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23884-2AB7-4E5F-B409-146764D7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52625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数据驱动模型与热力学模型各自表现如何？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3489F-4274-4DBD-8C12-D05E61CD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05175"/>
            <a:ext cx="285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RQ2  关键区域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CDC2F-0341-4037-847A-91EA6829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3375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模型重要位点是否集中于核心启动子区域？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C5651-E873-428A-9CC1-912C1550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285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RQ3  突变影响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6E7B0-BF45-40AC-9220-2B350F58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14875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改变高贡献位点后，预测强度是否按预期变化？</a:t>
            </a:r>
          </a:p>
        </p:txBody>
      </p:sp>
    </p:spTree>
    <p:extLst>
      <p:ext uri="{BB962C8B-B14F-4D97-AF65-F5344CB8AC3E}">
        <p14:creationId xmlns:p14="http://schemas.microsoft.com/office/powerpoint/2010/main" val="17986592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DD438-D3E1-4435-BD36-BD54FF60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数据构建与评价划分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88F90-326F-4AD8-A305-EAAC52E0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源域恢复TSS上下文，目标域保留教师提供的原始序列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35762-B2FF-438C-A099-E32DBF1A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99854-02B0-4460-85C1-73BC17759E74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571875"/>
                <a:gridCol w="5172075"/>
              </a:tblGrid>
              <a:tr h="650875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2025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数据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2025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有效记录与长度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2025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训练 / 验证 / 测试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</a:tr>
              <a:tr h="650875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202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大肠杆菌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202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11,809条，87 bp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202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8,267 / 1,768 / 1,774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202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枯草杆菌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202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591行，61 bp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202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354 / 119 / 118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55D5C-09AF-4460-86D1-D9703EE7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7195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原50 bp在U00096.2上定位，再恢复TSS上游67 bp及下游20 bp。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FBF7E-5BB5-4B24-AE25-30627857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95875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源域目标采用log10表达关联值。目标域单位、TSS和方向未知。</a:t>
            </a:r>
          </a:p>
        </p:txBody>
      </p:sp>
    </p:spTree>
    <p:extLst>
      <p:ext uri="{BB962C8B-B14F-4D97-AF65-F5344CB8AC3E}">
        <p14:creationId xmlns:p14="http://schemas.microsoft.com/office/powerpoint/2010/main" val="18807605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22AF1-95D4-44F1-9100-8A811BD8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87 bp上下文与热力学预测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27D6C-07FB-42C3-918A-998D320F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TSS位于零基索引67，固定窗口与逐序列推定窗口分别统计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60BD0-DEE2-4505-B9B4-A60ABEB0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73113-BE6D-4173-B16E-BFB5D7BE395F}"/>
              </a:ext>
            </a:extLst>
          </p:cNvPr>
          <p:cNvGraphicFramePr/>
          <p:nvPr/>
        </p:nvGraphicFramePr>
        <p:xfrm>
          <a:off xmlns:a="http://schemas.openxmlformats.org/drawingml/2006/main" x="628650" y="1771650"/>
          <a:ext xmlns:a="http://schemas.openxmlformats.org/drawingml/2006/main" cx="638175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2476500"/>
                <a:gridCol w="1571625"/>
              </a:tblGrid>
              <a:tr h="563336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75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固定区域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相对TSS位置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长度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</a:tr>
              <a:tr h="563336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UP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−60至−37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24 bp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−35盒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−35至−30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6 bp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spacer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−29至−13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17 bp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−10盒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−12至−7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6 bp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discriminator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−6至−1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6 bp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初始转录区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+1至+20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20 bp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71487-A8B0-49CA-8A0E-1ECDE258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962150"/>
            <a:ext cx="3867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22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30种状态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3A059-CF0B-432F-91D7-26FB929E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867025"/>
            <a:ext cx="38385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spacer 15至20 bp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discriminator 6至10 bp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F9BB8-057C-4D24-9562-BDE7C215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400550"/>
            <a:ext cx="38385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最小自由能状态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训练集拟合尺度校准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40EF4-42D7-42FC-89F4-853EC205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000750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表中为分析窗口，另含7 bp上游侧翼和−36处1 bp间隔。盒区采用固定假设或模型推定。</a:t>
            </a:r>
          </a:p>
        </p:txBody>
      </p:sp>
    </p:spTree>
    <p:extLst>
      <p:ext uri="{BB962C8B-B14F-4D97-AF65-F5344CB8AC3E}">
        <p14:creationId xmlns:p14="http://schemas.microsoft.com/office/powerpoint/2010/main" val="2082109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726F5-CAA7-4E3A-8A5F-CDF671CA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训练集分布与区域特征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13427-6757-4298-8C78-DAB7BD6E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描述统计仅使用8,267条训练序列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75525-CC84-445A-8CBE-901E0396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05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21E4523-7EBB-4EAB-B85C-32DEA3B40EFE}"/>
              </a:ext>
            </a:extLst>
          </p:cNvPr>
          <p:cNvGraphicFramePr/>
          <p:nvPr/>
        </p:nvGraphicFramePr>
        <p:xfrm>
          <a:off xmlns:a="http://schemas.openxmlformats.org/drawingml/2006/main" x="628650" y="1933575"/>
          <a:ext xmlns:a="http://schemas.openxmlformats.org/drawingml/2006/main" cx="5276850" cy="3248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e21985fcd643f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6798F-7532-4C07-8BE5-EF9A1692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911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log10表达，分箱宽度0.5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03625-22A4-4A30-AB50-BC3B8D6B1607}"/>
              </a:ext>
            </a:extLst>
          </p:cNvPr>
          <p:cNvGraphicFramePr/>
          <p:nvPr/>
        </p:nvGraphicFramePr>
        <p:xfrm>
          <a:off xmlns:a="http://schemas.openxmlformats.org/drawingml/2006/main" x="6515100" y="2028825"/>
          <a:ext xmlns:a="http://schemas.openxmlformats.org/drawingml/2006/main" cx="4953000" cy="2447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809750"/>
              </a:tblGrid>
              <a:tr h="611981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75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特征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Spearman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</a:tr>
              <a:tr h="611981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全序列 GC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-0.2094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1981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−10 共识匹配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-0.0221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1981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−35 共识匹配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0.0189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C770D-58A3-465D-A127-B14FFBA0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95850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单个共识匹配度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与表达的单调关系较弱</a:t>
            </a:r>
          </a:p>
        </p:txBody>
      </p:sp>
    </p:spTree>
    <p:extLst>
      <p:ext uri="{BB962C8B-B14F-4D97-AF65-F5344CB8AC3E}">
        <p14:creationId xmlns:p14="http://schemas.microsoft.com/office/powerpoint/2010/main" val="16672066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64605-B54D-4EC9-898B-D5006FF4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模型与共同评价尺度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3DE4E-9D2B-4CAA-9CB4-D91C8DF6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全部模型使用相同87 bp输入范围，预处理仅拟合train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2798A-EFD2-4E04-B079-638B3F4D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25441-8AF4-42BF-8003-C936A74216FA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381500"/>
                <a:gridCol w="3838575"/>
              </a:tblGrid>
              <a:tr h="558800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75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表示或机制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拟合方式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</a:tr>
              <a:tr h="558800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KNN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理化特征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距离加权回归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Ridge / LinearSVR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归一化k-mer频率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train标准化，val选参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CNN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独热编码，两层卷积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四配置，三个种子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DNA + Ridge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冻结DNABERT-2，768维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编码器固定，训练回归头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Promoter Calculator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转录起始热力学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75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固定TSS，train校准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B2AC8-65AD-41A4-9AC3-451DDC75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514975"/>
            <a:ext cx="10753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共同验证集1,768条，覆盖率100%。CNN先逐种子计分，再报告均值与SD。</a:t>
            </a:r>
          </a:p>
        </p:txBody>
      </p:sp>
    </p:spTree>
    <p:extLst>
      <p:ext uri="{BB962C8B-B14F-4D97-AF65-F5344CB8AC3E}">
        <p14:creationId xmlns:p14="http://schemas.microsoft.com/office/powerpoint/2010/main" val="1488704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8305B-C34D-4726-B582-41B35CB2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CNN与k-mer回归优于校准热力学模型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82342-51FA-4597-8DBE-C22C6964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共同验证集的内部比较，Ridge与DNA头采用扩展正则化范围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AE721-F3E6-4FB1-984E-250CB54E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07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05434AC-8121-43F1-AB47-F91E0C96B233}"/>
              </a:ext>
            </a:extLst>
          </p:cNvPr>
          <p:cNvGraphicFramePr/>
          <p:nvPr/>
        </p:nvGraphicFramePr>
        <p:xfrm>
          <a:off xmlns:a="http://schemas.openxmlformats.org/drawingml/2006/main" x="628650" y="1762125"/>
          <a:ext xmlns:a="http://schemas.openxmlformats.org/drawingml/2006/main" cx="73818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fc93c2952246f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18926-9763-4575-B828-641B8B34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2882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3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0.1160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D890F-1916-4B2A-96C7-580592BC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86075"/>
            <a:ext cx="2914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CNN三种子平均R²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SD = 0.0071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D6E36-D166-4FDC-96C4-FBDA2C98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2100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Spearman 0.3077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B3106-4E95-4FDA-B9D0-B1057105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0863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预测仍只能解释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有限的表达方差</a:t>
            </a:r>
          </a:p>
        </p:txBody>
      </p:sp>
    </p:spTree>
    <p:extLst>
      <p:ext uri="{BB962C8B-B14F-4D97-AF65-F5344CB8AC3E}">
        <p14:creationId xmlns:p14="http://schemas.microsoft.com/office/powerpoint/2010/main" val="21132449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648D6-30D5-4E67-B94F-436DB32E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正则化改善融合表现，新增表征未持续增益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ABFFB-9866-4815-B73C-AF43766D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固定输入表征与CNN种子，Ridge的alpha由不超过100扩展至1,000,000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4AA86-5BF9-4E8C-9434-4BB28A8C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08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1AB8A59-AD7F-42BC-8515-1D028E648203}"/>
              </a:ext>
            </a:extLst>
          </p:cNvPr>
          <p:cNvGraphicFramePr/>
          <p:nvPr/>
        </p:nvGraphicFramePr>
        <p:xfrm>
          <a:off xmlns:a="http://schemas.openxmlformats.org/drawingml/2006/main" x="628650" y="1762125"/>
          <a:ext xmlns:a="http://schemas.openxmlformats.org/drawingml/2006/main" cx="7429500" cy="3724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b4b95e10684d9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BDFFF-04CC-4DC8-B733-8F9839EB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981200"/>
            <a:ext cx="2952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A0  k-mer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A1  加入CNN表征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A2  加入冻结DNA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A3  加入归因区域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88D47-C807-4A0B-91E7-9F06BB2B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2767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55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A1：0.1174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42B19-001E-450B-A729-B8F14ED2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16255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A2、A3均未超过A1</a:t>
            </a:r>
          </a:p>
        </p:txBody>
      </p:sp>
    </p:spTree>
    <p:extLst>
      <p:ext uri="{BB962C8B-B14F-4D97-AF65-F5344CB8AC3E}">
        <p14:creationId xmlns:p14="http://schemas.microsoft.com/office/powerpoint/2010/main" val="9426085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FFF59-FBE1-4568-9464-C626CB05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基因组区域分组后，整体解释度仍有限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F4E28-234B-4AE7-B66F-83A99F75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20 kb区域分组，跨集合双链窗口重叠为零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C059F-8BA7-4975-8824-20058792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09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BECBD93-5CE7-4DBB-951A-EAC55A798F33}"/>
              </a:ext>
            </a:extLst>
          </p:cNvPr>
          <p:cNvGraphicFramePr/>
          <p:nvPr/>
        </p:nvGraphicFramePr>
        <p:xfrm>
          <a:off xmlns:a="http://schemas.openxmlformats.org/drawingml/2006/main" x="628650" y="1762125"/>
          <a:ext xmlns:a="http://schemas.openxmlformats.org/drawingml/2006/main" cx="73818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0a7ffde70f4f7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99B0A-1C12-4A28-875A-DF11D2A1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32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5,985 / 2,003 / 1,998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4AD96-0C10-490E-A091-9F15BD03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304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train / dev /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E5CAE-1762-46C2-932E-D2A73362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6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6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A1：0.1162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B508F-52E6-4E12-A53B-AEB7409B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57775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一次内部空间对照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尚非外部独立验证</a:t>
            </a:r>
          </a:p>
        </p:txBody>
      </p:sp>
    </p:spTree>
    <p:extLst>
      <p:ext uri="{BB962C8B-B14F-4D97-AF65-F5344CB8AC3E}">
        <p14:creationId xmlns:p14="http://schemas.microsoft.com/office/powerpoint/2010/main" val="14484582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E67CC-B82F-455B-A0C4-E9FB8A9E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−10区域在三个CNN种子中保持富集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92B60-B392-4303-BFB4-27A8B033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IG为积分梯度，ISM为逐位点替换。固定窗口Top-5，64条母序列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6A588-746D-4551-894A-7836D12D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5EDC3-4E3D-4C10-908D-44EBCC46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7145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IG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15AF5C0-4575-47D5-ABD0-F983369C6C83}"/>
              </a:ext>
            </a:extLst>
          </p:cNvPr>
          <p:cNvGraphicFramePr/>
          <p:nvPr/>
        </p:nvGraphicFramePr>
        <p:xfrm>
          <a:off xmlns:a="http://schemas.openxmlformats.org/drawingml/2006/main" x="628650" y="2181225"/>
          <a:ext xmlns:a="http://schemas.openxmlformats.org/drawingml/2006/main" cx="5238750" cy="3162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65ae4b3603480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02656-9C4E-42EC-9E87-60696B07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7145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ISM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011BD956-2DD1-4F5F-8B73-3B0C0D3AF047}"/>
              </a:ext>
            </a:extLst>
          </p:cNvPr>
          <p:cNvGraphicFramePr/>
          <p:nvPr/>
        </p:nvGraphicFramePr>
        <p:xfrm>
          <a:off xmlns:a="http://schemas.openxmlformats.org/drawingml/2006/main" x="6286500" y="2181225"/>
          <a:ext xmlns:a="http://schemas.openxmlformats.org/drawingml/2006/main" cx="5238750" cy="3162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43db93507444e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5C7D1-0C07-4B31-B199-B0E606F4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150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命中比例扣除区域长度/87。两类窗口与Top-5/10均支持−10富集。</a:t>
            </a:r>
          </a:p>
        </p:txBody>
      </p:sp>
    </p:spTree>
    <p:extLst>
      <p:ext uri="{BB962C8B-B14F-4D97-AF65-F5344CB8AC3E}">
        <p14:creationId xmlns:p14="http://schemas.microsoft.com/office/powerpoint/2010/main" val="8008889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B106C-4D3D-4308-ACCB-713FA493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精确位点的一致性弱于区域层面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0B643-1856-48F2-9309-C6DFC13B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同一64条序列，比较归因方法差异与CNN训练随机性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E479D-02CC-449D-BCC8-9E61DBB8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11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DCEAA9A-E453-4E98-8EAC-35E830D4AF75}"/>
              </a:ext>
            </a:extLst>
          </p:cNvPr>
          <p:cNvGraphicFramePr/>
          <p:nvPr/>
        </p:nvGraphicFramePr>
        <p:xfrm>
          <a:off xmlns:a="http://schemas.openxmlformats.org/drawingml/2006/main" x="628650" y="1762125"/>
          <a:ext xmlns:a="http://schemas.openxmlformats.org/drawingml/2006/main" cx="73342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4e8902a35e4bd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838C2-D4CE-41F5-9F0F-61695BA3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47875"/>
            <a:ext cx="295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7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跨种子仅约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7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0.20至0.25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F4A96-C165-4C04-90BD-D078491D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876675"/>
            <a:ext cx="295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单次Top-k清单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难以确定碱基的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真实生物作用</a:t>
            </a:r>
          </a:p>
        </p:txBody>
      </p:sp>
    </p:spTree>
    <p:extLst>
      <p:ext uri="{BB962C8B-B14F-4D97-AF65-F5344CB8AC3E}">
        <p14:creationId xmlns:p14="http://schemas.microsoft.com/office/powerpoint/2010/main" val="2724976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CD5B5-9B7F-4933-9C44-DACC9494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高归因位点替换引起更大的预测变化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40F84-FBDA-4D68-A76C-4DBE48BE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64条母序列，每组5个位点、10次替换，共1,920个变体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0274B-0373-4119-B70B-37689FB4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12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0DC5234-053A-4F97-843A-6C4632EFFC16}"/>
              </a:ext>
            </a:extLst>
          </p:cNvPr>
          <p:cNvGraphicFramePr/>
          <p:nvPr/>
        </p:nvGraphicFramePr>
        <p:xfrm>
          <a:off xmlns:a="http://schemas.openxmlformats.org/drawingml/2006/main" x="628650" y="1924050"/>
          <a:ext xmlns:a="http://schemas.openxmlformats.org/drawingml/2006/main" cx="5715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57ef5af6db4bd0"/>
          </a:graphicData>
        </a:graphic>
      </p:graphicFrame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78132-0A62-4F13-A101-63618A28AD32}"/>
              </a:ext>
            </a:extLst>
          </p:cNvPr>
          <p:cNvGraphicFramePr/>
          <p:nvPr/>
        </p:nvGraphicFramePr>
        <p:xfrm>
          <a:off xmlns:a="http://schemas.openxmlformats.org/drawingml/2006/main" x="7010400" y="1971675"/>
          <a:ext xmlns:a="http://schemas.openxmlformats.org/drawingml/2006/main" cx="4476750" cy="2543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3381375"/>
              </a:tblGrid>
              <a:tr h="635794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00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组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00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95%母序列区间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</a:tr>
              <a:tr h="635794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high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0.1018至0.1539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794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low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0.0414至0.0538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794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random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0.0593至0.0753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79E05-8F73-489F-ACCF-87EB5D7F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29175"/>
            <a:ext cx="44386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High与Random的配对差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0.0600 [0.0367, 0.0832]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4F3CA1-76E1-4F55-9712-E83C6BE7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905500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高归因位置对模型更敏感，真实表达效应仍需测量。</a:t>
            </a:r>
          </a:p>
        </p:txBody>
      </p:sp>
    </p:spTree>
    <p:extLst>
      <p:ext uri="{BB962C8B-B14F-4D97-AF65-F5344CB8AC3E}">
        <p14:creationId xmlns:p14="http://schemas.microsoft.com/office/powerpoint/2010/main" val="3588194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6236E-CEE5-4B2A-9E0A-DBE85787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梯度与CNN的单点变化方向高度一致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1CA1A-C5EF-4173-99A8-FE4B4550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High 5位穷举3种替换，共960个单点变体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E4885-262E-417E-ADA3-35302F2E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13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B314A62-A689-4385-84B5-22B7B3DC1FB9}"/>
              </a:ext>
            </a:extLst>
          </p:cNvPr>
          <p:cNvGraphicFramePr/>
          <p:nvPr/>
        </p:nvGraphicFramePr>
        <p:xfrm>
          <a:off xmlns:a="http://schemas.openxmlformats.org/drawingml/2006/main" x="628650" y="1762125"/>
          <a:ext xmlns:a="http://schemas.openxmlformats.org/drawingml/2006/main" cx="73818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c4db0ddf904d7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34DF8-5239-492C-9E73-9ACE3C7E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2882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3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98.23%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1B17A-64F7-49A4-80FA-AEE5C0B2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86075"/>
            <a:ext cx="2914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梯度与CNN有限替换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方向一致率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A8827-6A65-4A89-B662-86566AF3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2481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C37C3A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C37C3A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C37C3A"/>
                </a:solidFill>
                <a:latin typeface="Source Han Sans CN"/>
                <a:ea typeface="Source Han Sans CN"/>
                <a:cs typeface="Source Han Sans CN"/>
              </a:rPr>
              <a:t>44.27%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94668-15A3-44B5-A39D-D1FB6B1B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0673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CNN与热力学方向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存在明显分歧</a:t>
            </a:r>
          </a:p>
        </p:txBody>
      </p:sp>
    </p:spTree>
    <p:extLst>
      <p:ext uri="{BB962C8B-B14F-4D97-AF65-F5344CB8AC3E}">
        <p14:creationId xmlns:p14="http://schemas.microsoft.com/office/powerpoint/2010/main" val="15087978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157DA-FE1D-428D-A98E-277B1FE6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跨物种few-shot未显示稳定收益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0ED7E-D18A-4D8E-B865-5FB8BC0E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目标test 118行，五次固定训练组抽样，目标回归头仅使用train和val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2CA47-9C0D-4366-AA45-599878A9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14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65215E6-9264-44E5-94CD-56FBADD751C9}"/>
              </a:ext>
            </a:extLst>
          </p:cNvPr>
          <p:cNvGraphicFramePr/>
          <p:nvPr/>
        </p:nvGraphicFramePr>
        <p:xfrm>
          <a:off xmlns:a="http://schemas.openxmlformats.org/drawingml/2006/main" x="628650" y="1952625"/>
          <a:ext xmlns:a="http://schemas.openxmlformats.org/drawingml/2006/main" cx="6667500" cy="3371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87871d786d4bf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28894-8645-4CDA-ADAE-8B1CB05E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626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目标训练序列组数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4FB94-15C6-4B27-BD95-319CD46BFB1F}"/>
              </a:ext>
            </a:extLst>
          </p:cNvPr>
          <p:cNvGraphicFramePr/>
          <p:nvPr/>
        </p:nvGraphicFramePr>
        <p:xfrm>
          <a:off xmlns:a="http://schemas.openxmlformats.org/drawingml/2006/main" x="7753350" y="2066925"/>
          <a:ext xmlns:a="http://schemas.openxmlformats.org/drawingml/2006/main" cx="37338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95350"/>
                <a:gridCol w="2838450"/>
              </a:tblGrid>
              <a:tr h="595313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00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组数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00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CNN均值 ± SD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</a:tr>
              <a:tr h="595313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20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0.0824 ± 0.1107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50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0.1805 ± 0.0709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100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0.2075 ± 0.0162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14650-F64A-4F99-88A9-85104960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76800"/>
            <a:ext cx="3733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100组：0.2075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zero-shot：0.2161</a:t>
            </a:r>
          </a:p>
        </p:txBody>
      </p:sp>
    </p:spTree>
    <p:extLst>
      <p:ext uri="{BB962C8B-B14F-4D97-AF65-F5344CB8AC3E}">
        <p14:creationId xmlns:p14="http://schemas.microsoft.com/office/powerpoint/2010/main" val="18460199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1B27D-CCD4-42EC-BFAD-0C28F9FC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结果的解释范围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E8DFC-79CF-4FE3-BD99-28221807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预测关联、模型敏感性与生物因果分别解释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4BDCE-D299-44D4-882D-29AB1AA5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CC822-F4C3-4918-8AB6-575164DE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32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标签与机制目标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61723-8677-4A50-B871-BCD87082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971675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天然表达关联值包含序列之外因素，热力学预测针对转录起始。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60BF0-16BB-4227-8E72-3CCBBA11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32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内部评价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E619B-B8D5-4C35-9CC5-F82E8BCE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28975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验证集参与选参，空间分组仅一次，历史test已被观察。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A080B-C9B4-4C40-AFEA-815FA92A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32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归因证据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F3428-5CEF-4BF3-916F-D9E7398C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486275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区域富集较一致，精确位点和真实突变效果仍有不确定性。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66856-04FE-40CC-808E-1A9BD429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905500"/>
            <a:ext cx="10734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中强度组中，常数基线比热力学和CNN的MAE更低。</a:t>
            </a:r>
          </a:p>
        </p:txBody>
      </p:sp>
    </p:spTree>
    <p:extLst>
      <p:ext uri="{BB962C8B-B14F-4D97-AF65-F5344CB8AC3E}">
        <p14:creationId xmlns:p14="http://schemas.microsoft.com/office/powerpoint/2010/main" val="17085021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6FDC9-3A0B-4F09-9B96-37997C2C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研究结论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6A2B6-AB30-4A6B-AC6D-59E2D315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四项必做实验及跨物种、多方法归因两项选做实验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A08C9-D050-4AB4-AF68-750CDCC7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2BC23-33A8-4FED-8EE4-9EDEB0DB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90725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55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RQ1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AE5EF-E595-4B70-AB77-B35091E7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009775"/>
            <a:ext cx="909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数据驱动模型有一定预测能力，整体解释度仍有限。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6BF2F-F6BA-417E-A215-507A7065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24200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55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RQ2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F21A4-5324-4BD6-B77B-DE42CB37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143250"/>
            <a:ext cx="909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−10区域信号较一致，精确位点需要更多验证。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1B568-ED9D-4E7E-B929-1F6B6FFA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57675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550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RQ3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12CFA-BF7A-4C8B-B0CC-59254BE4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276725"/>
            <a:ext cx="909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高归因位置更敏感，真实突变效果仍需实测。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E9F20-0D23-4F44-83EC-FFA9DBB1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054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代码、数据与完整报告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31066-A84B-4CAA-9619-63ACBDDA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1245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github.com/Azusakada/PR02-01-promoter--insight</a:t>
            </a:r>
          </a:p>
        </p:txBody>
      </p:sp>
    </p:spTree>
    <p:extLst>
      <p:ext uri="{BB962C8B-B14F-4D97-AF65-F5344CB8AC3E}">
        <p14:creationId xmlns:p14="http://schemas.microsoft.com/office/powerpoint/2010/main" val="14784508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AA7C7-489B-4D76-929E-62F22EB4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备查：不同强度组的误差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B3C62-3835-4D2D-B1BB-CAEC5EB3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分组阈值来自源域train三分位，MAE均在log10尺度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334B8-7E11-46B5-B06E-8CBC358B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17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ABAC2-8E1A-437E-A7D5-395D5EB8A504}"/>
              </a:ext>
            </a:extLst>
          </p:cNvPr>
          <p:cNvGraphicFramePr/>
          <p:nvPr/>
        </p:nvGraphicFramePr>
        <p:xfrm>
          <a:off xmlns:a="http://schemas.openxmlformats.org/drawingml/2006/main" x="628650" y="2019300"/>
          <a:ext xmlns:a="http://schemas.openxmlformats.org/drawingml/2006/main" cx="109347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285875"/>
                <a:gridCol w="1952625"/>
                <a:gridCol w="1952625"/>
                <a:gridCol w="1952625"/>
                <a:gridCol w="2076450"/>
              </a:tblGrid>
              <a:tr h="690563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950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组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950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样本数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950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CNN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950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Ridge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950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热力学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950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均值基线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</a:tr>
              <a:tr h="690563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95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低强度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95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582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95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0.5184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95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0.5248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95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0.5497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95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0.5582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95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中强度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95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570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95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0.2003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95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0.1844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95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0.1723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95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0.1644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 lIns="114300" tIns="66675" rIns="114300" bIns="66675"/>
                    <a:lstStyle/>
                    <a:p>
                      <a:pPr algn="l"/>
                      <a:r>
                        <a:rPr sz="195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高强度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95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616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95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0.5960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95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0.6217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95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0.6646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/>
                    <a:lstStyle/>
                    <a:p>
                      <a:pPr algn="ctr"/>
                      <a:r>
                        <a:rPr sz="195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0.6740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68339-A156-490F-913F-565AB23F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295900"/>
            <a:ext cx="10706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1">
                <a:solidFill>
                  <a:srgbClr val="247F81"/>
                </a:solidFill>
                <a:latin typeface="Source Han Sans CN"/>
                <a:ea typeface="Source Han Sans CN"/>
                <a:cs typeface="Source Han Sans CN"/>
              </a:rPr>
              <a:t>低、高强度组中CNN的MAE更低。中强度组的常数参照最好。</a:t>
            </a:r>
          </a:p>
        </p:txBody>
      </p:sp>
    </p:spTree>
    <p:extLst>
      <p:ext uri="{BB962C8B-B14F-4D97-AF65-F5344CB8AC3E}">
        <p14:creationId xmlns:p14="http://schemas.microsoft.com/office/powerpoint/2010/main" val="16001038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8D8E4-4ED2-440C-B72E-1CC35077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备查：两种划分的完整性能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E09C8-C88C-4E25-A308-CA742E11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不同样本组成的内部评价，分数差不直接等于重叠窗口造成的偏差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3F328-A808-49F5-9086-8A338C27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DF70D-77CD-4439-8EFB-C4D39832A9EA}"/>
              </a:ext>
            </a:extLst>
          </p:cNvPr>
          <p:cNvGraphicFramePr/>
          <p:nvPr/>
        </p:nvGraphicFramePr>
        <p:xfrm>
          <a:off xmlns:a="http://schemas.openxmlformats.org/drawingml/2006/main" x="628650" y="1714500"/>
          <a:ext xmlns:a="http://schemas.openxmlformats.org/drawingml/2006/main" cx="10934700" cy="4324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28900"/>
                <a:gridCol w="2076450"/>
                <a:gridCol w="2076450"/>
                <a:gridCol w="2076450"/>
                <a:gridCol w="2076450"/>
              </a:tblGrid>
              <a:tr h="393123">
                <a:tc>
                  <a:txBody>
                    <a:bodyPr lIns="114300" tIns="47625" rIns="114300" bIns="47625"/>
                    <a:lstStyle/>
                    <a:p>
                      <a:pPr algn="l"/>
                      <a:r>
                        <a:rPr sz="1800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原划分R²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原划分ρ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空间R²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1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空间ρ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T w="6668">
                      <a:solidFill>
                        <a:srgbClr val="DDE5E9"/>
                      </a:solidFill>
                      <a:prstDash val="solid"/>
                    </a:lnT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E9F0F3"/>
                    </a:solidFill>
                  </a:tcPr>
                </a:tc>
              </a:tr>
              <a:tr h="393123">
                <a:tc>
                  <a:txBody>
                    <a:bodyPr lIns="114300" tIns="47625" rIns="114300" bIns="47625"/>
                    <a:lstStyle/>
                    <a:p>
                      <a:pPr algn="l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KNN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0.0519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0.2202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0.0395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0.2051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23">
                <a:tc>
                  <a:txBody>
                    <a:bodyPr lIns="114300" tIns="47625" rIns="114300" bIns="47625"/>
                    <a:lstStyle/>
                    <a:p>
                      <a:pPr algn="l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k-mer Ridge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0.0842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0.2733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0.0868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0.2978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23">
                <a:tc>
                  <a:txBody>
                    <a:bodyPr lIns="114300" tIns="47625" rIns="114300" bIns="47625"/>
                    <a:lstStyle/>
                    <a:p>
                      <a:pPr algn="l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LinearSVR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0.0705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0.2638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0.0731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0.2684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23">
                <a:tc>
                  <a:txBody>
                    <a:bodyPr lIns="114300" tIns="47625" rIns="114300" bIns="47625"/>
                    <a:lstStyle/>
                    <a:p>
                      <a:pPr algn="l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DNA + Ridge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0.0659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0.2497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0.0713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0.2673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23">
                <a:tc>
                  <a:txBody>
                    <a:bodyPr lIns="114300" tIns="47625" rIns="114300" bIns="47625"/>
                    <a:lstStyle/>
                    <a:p>
                      <a:pPr algn="l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热力学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0.0136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0.1047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0.0357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0.1774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23">
                <a:tc>
                  <a:txBody>
                    <a:bodyPr lIns="114300" tIns="47625" rIns="114300" bIns="47625"/>
                    <a:lstStyle/>
                    <a:p>
                      <a:pPr algn="l"/>
                      <a:r>
                        <a:rPr sz="1800" b="1">
                          <a:solidFill>
                            <a:srgbClr val="247F81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CNN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1">
                          <a:solidFill>
                            <a:srgbClr val="247F81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0.1160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1">
                          <a:solidFill>
                            <a:srgbClr val="247F81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0.3077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1">
                          <a:solidFill>
                            <a:srgbClr val="247F81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0.0993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1">
                          <a:solidFill>
                            <a:srgbClr val="247F81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0.2982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23">
                <a:tc>
                  <a:txBody>
                    <a:bodyPr lIns="114300" tIns="47625" rIns="114300" bIns="47625"/>
                    <a:lstStyle/>
                    <a:p>
                      <a:pPr algn="l"/>
                      <a:r>
                        <a:rPr sz="1800" b="1">
                          <a:solidFill>
                            <a:srgbClr val="247F81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A1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1">
                          <a:solidFill>
                            <a:srgbClr val="247F81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0.1174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1">
                          <a:solidFill>
                            <a:srgbClr val="247F81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0.3118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1">
                          <a:solidFill>
                            <a:srgbClr val="247F81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0.1162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1">
                          <a:solidFill>
                            <a:srgbClr val="247F81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0.3177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23">
                <a:tc>
                  <a:txBody>
                    <a:bodyPr lIns="114300" tIns="47625" rIns="114300" bIns="47625"/>
                    <a:lstStyle/>
                    <a:p>
                      <a:pPr algn="l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A2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0.1100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0.3043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0.1073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0.3167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23">
                <a:tc>
                  <a:txBody>
                    <a:bodyPr lIns="114300" tIns="47625" rIns="114300" bIns="47625"/>
                    <a:lstStyle/>
                    <a:p>
                      <a:pPr algn="l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A3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0.1144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0.3094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0.1130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0.3158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23">
                <a:tc>
                  <a:txBody>
                    <a:bodyPr lIns="114300" tIns="47625" rIns="114300" bIns="47625"/>
                    <a:lstStyle/>
                    <a:p>
                      <a:pPr algn="l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训练均值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DE5E9"/>
                      </a:solidFill>
                      <a:prstDash val="solid"/>
                    </a:lnL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0.0000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未定义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-0.0004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47625" rIns="114300" bIns="47625"/>
                    <a:lstStyle/>
                    <a:p>
                      <a:pPr algn="ctr"/>
                      <a:r>
                        <a:rPr sz="1800" b="0">
                          <a:solidFill>
                            <a:srgbClr val="172F3B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未定义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DE5E9"/>
                      </a:solidFill>
                      <a:prstDash val="solid"/>
                    </a:lnR>
                    <a:lnB w="6668">
                      <a:solidFill>
                        <a:srgbClr val="DD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22113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785D8-7B6C-44F3-9879-295BC47A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22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备查：数据与方法来源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FFF17-F19E-4707-82E1-3F6AF1ED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1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完整书目信息与链接见研究报告参考文献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946A6-C5CB-4E4B-8D58-A03D5111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DDEFA-8FF5-4E80-828F-CD25A2F8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8478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Wang等，2020，Nucleic Acids Research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EDE9F-643C-460D-AF4D-E56720D7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19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Deep_promoter原始数据与代码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6BA1F-ED7F-4A50-98C3-5E6DB4A3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003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Thomason等，2015，Journal of Bacteriology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49F21-4333-43F8-B58D-49191980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718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大肠杆菌TSS图谱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DB708-E60F-42CB-BB8E-F60161E4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3528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LaFleur等，2022，Nature Communications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7209B-2739-4611-A077-91571323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2427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Promoter Calculator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A645B-CCDA-4034-B2C5-0A4F6ACA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052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Zhou等，2024，ICLR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D1839-291C-4E1F-A950-A254AC6C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7675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DNABERT-2冻结表征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62720-041B-4AFB-A89C-D838742F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577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1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Sundararajan等，2017，PMLR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C8A05-556B-4108-9F40-FBCEBDD9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2292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5E727D"/>
                </a:solidFill>
                <a:latin typeface="Source Han Sans CN"/>
                <a:ea typeface="Source Han Sans CN"/>
                <a:cs typeface="Source Han Sans CN"/>
              </a:rPr>
              <a:t>Integrated Gradients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0959A-C113-481A-BB9B-1FCF4F81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94360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172F3B"/>
                </a:solidFill>
                <a:latin typeface="Source Han Sans CN"/>
                <a:ea typeface="Source Han Sans CN"/>
                <a:cs typeface="Source Han Sans CN"/>
              </a:rPr>
              <a:t>枯草杆菌数据：课程教师提供的61 bp强度CSV。</a:t>
            </a:r>
          </a:p>
        </p:txBody>
      </p:sp>
    </p:spTree>
    <p:extLst>
      <p:ext uri="{BB962C8B-B14F-4D97-AF65-F5344CB8AC3E}">
        <p14:creationId xmlns:p14="http://schemas.microsoft.com/office/powerpoint/2010/main" val="1394411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/>
  <ns0:PresentationFormat>Converted Presentation</ns0:PresentationFormat>
  <ns0:Slides>0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PR02-01 项目组</dc:creator>
  <ns0:lastModifiedBy/>
  <dc:title>启动子强度预测与关键位点归因</dc:title>
  <ns2:created xsi:type="dcterms:W3CDTF">2026-10-14T12:42:17.5880000Z</ns2:created>
  <ns2:modified xsi:type="dcterms:W3CDTF">2026-10-14T12:42:17.5880000Z</ns2:modified>
  <dc:description/>
</ns0:coreProperties>
</file>